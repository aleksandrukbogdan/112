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6" r:id="rId2"/>
    <p:sldId id="263" r:id="rId3"/>
    <p:sldId id="297" r:id="rId4"/>
    <p:sldId id="298" r:id="rId5"/>
    <p:sldId id="299" r:id="rId6"/>
    <p:sldId id="280" r:id="rId7"/>
    <p:sldId id="281" r:id="rId8"/>
    <p:sldId id="269" r:id="rId9"/>
    <p:sldId id="282" r:id="rId10"/>
    <p:sldId id="271" r:id="rId11"/>
    <p:sldId id="276" r:id="rId12"/>
    <p:sldId id="277" r:id="rId13"/>
    <p:sldId id="283" r:id="rId14"/>
    <p:sldId id="272" r:id="rId15"/>
    <p:sldId id="273" r:id="rId16"/>
    <p:sldId id="270" r:id="rId17"/>
    <p:sldId id="278" r:id="rId18"/>
    <p:sldId id="294" r:id="rId19"/>
    <p:sldId id="295" r:id="rId20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3"/>
          <c:y val="0.12693499999999999"/>
          <c:w val="0.86424199999999995"/>
          <c:h val="0.66747100000000004"/>
        </c:manualLayout>
      </c:layout>
      <c:barChart>
        <c:barDir val="bar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>
      <a:off x="346075" y="1424510"/>
      <a:ext cx="5749925" cy="4401748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Статистика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prstGeom prst="rect">
                <a:avLst/>
              </a:prstGeom>
              <a:solidFill>
                <a:schemeClr val="accent1"/>
              </a:solidFill>
              <a:ln w="63500" cap="rnd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1E9-4310-8053-4DA0CAFA86F3}"/>
              </c:ext>
            </c:extLst>
          </c:dPt>
          <c:dPt>
            <c:idx val="1"/>
            <c:bubble3D val="0"/>
            <c:spPr>
              <a:prstGeom prst="rect">
                <a:avLst/>
              </a:prstGeom>
              <a:solidFill>
                <a:schemeClr val="accent5"/>
              </a:solidFill>
              <a:ln w="63500" cap="rnd"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1E9-4310-8053-4DA0CAFA86F3}"/>
              </c:ext>
            </c:extLst>
          </c:dPt>
          <c:dPt>
            <c:idx val="2"/>
            <c:bubble3D val="0"/>
            <c:spPr>
              <a:prstGeom prst="rect">
                <a:avLst/>
              </a:prstGeom>
              <a:solidFill>
                <a:schemeClr val="accent4"/>
              </a:solidFill>
              <a:ln w="63500" cap="rnd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1E9-4310-8053-4DA0CAFA86F3}"/>
              </c:ext>
            </c:extLst>
          </c:dPt>
          <c:dPt>
            <c:idx val="3"/>
            <c:bubble3D val="0"/>
            <c:spPr>
              <a:prstGeom prst="rect">
                <a:avLst/>
              </a:prstGeom>
              <a:solidFill>
                <a:schemeClr val="accent2"/>
              </a:solidFill>
              <a:ln w="63500" cap="rnd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1E9-4310-8053-4DA0CAFA86F3}"/>
              </c:ext>
            </c:extLst>
          </c:dPt>
          <c:cat>
            <c:numRef>
              <c:f>Лист1!$A$2:$A$5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1E9-4310-8053-4DA0CAFA86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>
    <a:xfrm>
      <a:off x="625096" y="1360288"/>
      <a:ext cx="5125748" cy="4385667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F3B14-7AC8-406F-A299-37D374056E4F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66C42D-DEF1-692D-EB23-56912B18EA73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8268F6-FB98-9775-D61D-DAEA8E938702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440481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7668913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5732498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5D2238-25F6-F084-F194-B08C82005CBD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2C792-5871-848D-AF35-371AFE72CB4F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06EBC-152B-39B7-84F3-BD9F4D07ECD0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8989F1-D0BC-C9C6-34DF-3DCD13FDA7B1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517D75-5C25-5334-B8EA-D5B29D84D7EA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EDA9EC-F428-112D-3923-9BEBB546110F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99ED4-F20B-0701-D13A-3B951D3B50DF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0654A-DB5D-4FA2-BFBA-DA32D08A6797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BE8A63-6423-9D1A-6C53-0FD2972D0E47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2C792-5871-848D-AF35-371AFE72CB4F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95164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2156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-112.nir.center/" TargetMode="Externa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hyperlink" Target="https://github.com/aleksandrukbogdan/112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 dirty="0"/>
              <a:t>НИР-ЦЕНТР</a:t>
            </a:r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 lang="en-US" dirty="0"/>
              <a:t>#9 </a:t>
            </a:r>
            <a:r>
              <a:rPr lang="ru-RU" dirty="0"/>
              <a:t>Учебный симулятор подготовки диспетчеров экстренных служб города по вызовам от системы 112</a:t>
            </a:r>
          </a:p>
        </p:txBody>
      </p:sp>
      <p:pic>
        <p:nvPicPr>
          <p:cNvPr id="2" name="Image 7" descr=" ">
            <a:extLst>
              <a:ext uri="{FF2B5EF4-FFF2-40B4-BE49-F238E27FC236}">
                <a16:creationId xmlns:a16="http://schemas.microsoft.com/office/drawing/2014/main" id="{53A6847C-270D-2926-24DB-AE514B96ED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2541" y="441325"/>
            <a:ext cx="2876535" cy="4380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810413-5E6A-CC18-D3B8-95C544E89BB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8799" b="8799"/>
          <a:stretch>
            <a:fillRect/>
          </a:stretch>
        </p:blipFill>
        <p:spPr>
          <a:xfrm>
            <a:off x="0" y="334963"/>
            <a:ext cx="6456363" cy="2971800"/>
          </a:xfrm>
          <a:prstGeom prst="rect">
            <a:avLst/>
          </a:prstGeom>
        </p:spPr>
      </p:pic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175965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Речевой стресс ЧС: F5-TTS (Russian) + </a:t>
            </a:r>
            <a:r>
              <a:rPr lang="ru-RU" dirty="0" err="1">
                <a:solidFill>
                  <a:schemeClr val="tx1"/>
                </a:solidFill>
              </a:rPr>
              <a:t>Vocos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vocoder</a:t>
            </a:r>
            <a:r>
              <a:rPr lang="ru-RU" dirty="0">
                <a:solidFill>
                  <a:schemeClr val="tx1"/>
                </a:solidFill>
              </a:rPr>
              <a:t> + DSP-фильтр G.711 + звуки пламени, ДТП, плача и сирен. Отклик 0.7–1.3 с. Разделение ролей: паника заявителя отделена от спокойных докладов бригады.</a:t>
            </a:r>
          </a:p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Доказательная аттестация: каждый балл привязан к цитате, времени и пункту регламента Системы-112 без «галлюцинаций» LLM.</a:t>
            </a:r>
          </a:p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Обучение критическому мышлению: ИИ-подсказки требуют верификации человеком; раздельный учёт принятия и фактической корректности.</a:t>
            </a:r>
          </a:p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100% автономность: полная изоляция без интернета, локальный </a:t>
            </a:r>
            <a:r>
              <a:rPr lang="ru-RU" dirty="0" err="1">
                <a:solidFill>
                  <a:schemeClr val="tx1"/>
                </a:solidFill>
              </a:rPr>
              <a:t>vLLM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PostgreSQL</a:t>
            </a:r>
            <a:r>
              <a:rPr lang="ru-RU" dirty="0">
                <a:solidFill>
                  <a:schemeClr val="tx1"/>
                </a:solidFill>
              </a:rPr>
              <a:t> 16, суточные бэкапы (149-ФЗ, 152-ФЗ).</a:t>
            </a:r>
            <a:endParaRPr lang="ru-RU" dirty="0"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Головин Сергей Евгеньевич,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 Разработчик в сфере больших данных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3 человека</a:t>
            </a:r>
            <a:endParaRPr lang="ru-RU"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Инженерная команда с подтверждённым опытом в области </a:t>
            </a:r>
            <a:r>
              <a:rPr lang="ru-RU" i="1" dirty="0" err="1">
                <a:solidFill>
                  <a:schemeClr val="tx1"/>
                </a:solidFill>
              </a:rPr>
              <a:t>Speech</a:t>
            </a:r>
            <a:r>
              <a:rPr lang="ru-RU" i="1" dirty="0">
                <a:solidFill>
                  <a:schemeClr val="tx1"/>
                </a:solidFill>
              </a:rPr>
              <a:t> AI, отказоустойчивых веб-архитектур и эргономики АРМ оперативных служб. </a:t>
            </a:r>
            <a:br>
              <a:rPr lang="ru-RU" i="1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  <a:br>
              <a:rPr lang="ru-RU" b="1" dirty="0">
                <a:solidFill>
                  <a:schemeClr val="tx1"/>
                </a:solidFill>
              </a:rPr>
            </a:br>
            <a:r>
              <a:rPr lang="ru-RU" i="1" dirty="0">
                <a:solidFill>
                  <a:schemeClr val="tx1"/>
                </a:solidFill>
              </a:rPr>
              <a:t>Екатеринбург, Санкт-Петербург, Тверь</a:t>
            </a:r>
            <a:endParaRPr i="1" dirty="0">
              <a:solidFill>
                <a:schemeClr val="tx1"/>
              </a:solidFill>
            </a:endParaRPr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accent5"/>
                </a:solidFill>
                <a:latin typeface="Montserrat"/>
              </a:rPr>
              <a:t>Команда «НИР-ЦЕНТР»</a:t>
            </a: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163230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Действующий тренажёрный комплекс полного цикла: от приёма звонка заявителя в условиях акустического стресса и катастроф (F5-TTS с 11 звуками ЧС) до обработки карточки диспетчером ДДС (IP-телефония/VoIP, переговоры с бригадой, фиксация статусов по факту доклада) и математически обоснованного разбора с персональной траекторией устранения дефицитов навыков.</a:t>
            </a:r>
            <a:endParaRPr lang="ru-RU" dirty="0"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 err="1">
                <a:solidFill>
                  <a:schemeClr val="tx1"/>
                </a:solidFill>
              </a:rPr>
              <a:t>Фронтендер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@AleksandrukBogdan </a:t>
            </a:r>
            <a:endParaRPr lang="ru-RU" sz="1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+79955906322</a:t>
            </a:r>
            <a:endParaRPr lang="ru-RU" sz="1600"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 err="1">
                <a:solidFill>
                  <a:schemeClr val="tx1"/>
                </a:solidFill>
              </a:rPr>
              <a:t>Нир</a:t>
            </a:r>
            <a:r>
              <a:rPr lang="ru-RU" sz="1200" dirty="0">
                <a:solidFill>
                  <a:schemeClr val="tx1"/>
                </a:solidFill>
              </a:rPr>
              <a:t>-Центр</a:t>
            </a: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Богдан </a:t>
            </a:r>
            <a:r>
              <a:rPr lang="ru-RU" sz="1600" b="1" dirty="0" err="1">
                <a:solidFill>
                  <a:schemeClr val="accent5"/>
                </a:solidFill>
              </a:rPr>
              <a:t>Александрук</a:t>
            </a:r>
            <a:endParaRPr dirty="0"/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Речевой стек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kkrilov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+79043536298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 err="1">
                <a:solidFill>
                  <a:schemeClr val="tx1"/>
                </a:solidFill>
              </a:rPr>
              <a:t>Нир</a:t>
            </a:r>
            <a:r>
              <a:rPr lang="ru-RU" sz="1200" dirty="0">
                <a:solidFill>
                  <a:schemeClr val="tx1"/>
                </a:solidFill>
              </a:rPr>
              <a:t>-Центр</a:t>
            </a:r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Кирилл Крылов</a:t>
            </a:r>
            <a:endParaRPr dirty="0"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5C6D90B-E5ED-013B-58B6-CA70ED939464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/>
          <a:srcRect t="9184" b="9184"/>
          <a:stretch/>
        </p:blipFill>
        <p:spPr bwMode="auto">
          <a:xfrm>
            <a:off x="581025" y="1816100"/>
            <a:ext cx="1722438" cy="1552575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A0D66E-3A28-F35F-8F9E-6B314DA7AB61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10623" b="10623"/>
          <a:stretch/>
        </p:blipFill>
        <p:spPr bwMode="auto">
          <a:xfrm>
            <a:off x="2886075" y="1827213"/>
            <a:ext cx="1722438" cy="1541462"/>
          </a:xfrm>
        </p:spPr>
      </p:pic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</a:t>
            </a:r>
            <a:r>
              <a:rPr lang="ru-RU" dirty="0" err="1">
                <a:latin typeface="Montserrat"/>
              </a:rPr>
              <a:t>Нир</a:t>
            </a:r>
            <a:r>
              <a:rPr lang="ru-RU" dirty="0">
                <a:latin typeface="Montserrat"/>
              </a:rPr>
              <a:t>-Центр»</a:t>
            </a: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Архитектор </a:t>
            </a:r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@Se_Golovin </a:t>
            </a:r>
            <a:endParaRPr lang="ru-RU" sz="1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+79505501003</a:t>
            </a: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 err="1">
                <a:solidFill>
                  <a:schemeClr val="tx1"/>
                </a:solidFill>
              </a:rPr>
              <a:t>Нир</a:t>
            </a:r>
            <a:r>
              <a:rPr lang="ru-RU" sz="1200" dirty="0">
                <a:solidFill>
                  <a:schemeClr val="tx1"/>
                </a:solidFill>
              </a:rPr>
              <a:t>-Центр</a:t>
            </a:r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Сергей Головин 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F72E9E-AEDA-E3DA-5B6A-E4DA9107ABF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12760" b="12760"/>
          <a:stretch/>
        </p:blipFill>
        <p:spPr bwMode="auto">
          <a:xfrm>
            <a:off x="5191125" y="1809750"/>
            <a:ext cx="1722438" cy="1558925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</a:t>
            </a:r>
            <a:r>
              <a:rPr lang="ru-RU" dirty="0" err="1">
                <a:latin typeface="Montserrat"/>
              </a:rPr>
              <a:t>Нир</a:t>
            </a:r>
            <a:r>
              <a:rPr lang="ru-RU" dirty="0">
                <a:latin typeface="Montserrat"/>
              </a:rPr>
              <a:t>-Центр»</a:t>
            </a: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9506686" cy="9342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 dirty="0">
                <a:solidFill>
                  <a:schemeClr val="tx1"/>
                </a:solidFill>
              </a:rPr>
              <a:t>Мы объединились вокруг критически важной городской задачи. Наш опыт создания высоконагруженных локальных систем позволил за дни </a:t>
            </a:r>
            <a:r>
              <a:rPr lang="ru-RU" sz="1200" dirty="0" err="1">
                <a:solidFill>
                  <a:schemeClr val="tx1"/>
                </a:solidFill>
              </a:rPr>
              <a:t>хакатона</a:t>
            </a:r>
            <a:r>
              <a:rPr lang="ru-RU" sz="1200" dirty="0">
                <a:solidFill>
                  <a:schemeClr val="tx1"/>
                </a:solidFill>
              </a:rPr>
              <a:t> развернуть работающий промышленный комплекс на живом сервере с подключением GPU-кластера и реальных баз данных экстренных служб.</a:t>
            </a:r>
            <a:endParaRPr lang="ru-RU" sz="1200" dirty="0"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Краткая история команды: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10049894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1. Задержка и </a:t>
            </a:r>
            <a:r>
              <a:rPr kumimoji="0" lang="ru-RU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роботизированность</a:t>
            </a: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 речи: Базовый синтез генерировал нейтральный голос до 75 секунд. Мы развернули F5-TTS Russian с предстартовым </a:t>
            </a:r>
            <a:r>
              <a:rPr kumimoji="0" lang="ru-RU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автопрогревом</a:t>
            </a: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 «Алло» на GPU, снизив латентность до 0.7–1.3 с, добавили фильтр G.711 и процедурный слой 11 катастроф (пламя, визг тормозов, плач).</a:t>
            </a:r>
          </a:p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2. Полная сетевая изоляция: Реализовали запуск локальной LLM (</a:t>
            </a:r>
            <a:r>
              <a:rPr kumimoji="0" lang="ru-RU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vLLM</a:t>
            </a: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/Qwen3) и ASR (</a:t>
            </a:r>
            <a:r>
              <a:rPr kumimoji="0" lang="ru-RU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GigaAM</a:t>
            </a: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 v3 / </a:t>
            </a:r>
            <a:r>
              <a:rPr kumimoji="0" lang="ru-RU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Vosk</a:t>
            </a: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) в защищённом контуре без единого обращения во внешний интернет (149-ФЗ, 152-ФЗ).</a:t>
            </a:r>
          </a:p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3. Защита от субъективности ИИ: Отказались от свободной генерации баллов моделью. Оценка строго детерминирована правилами регламента Москвы, а нейросеть формирует только цитаты-доказательства.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1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С какими основными сложностями или вызовами </a:t>
            </a:r>
            <a:b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</a:b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вы столкнулись и как их преодолели?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9836976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Секунды реакции диспетчера 112 и ДДС спасают жизни людей. Создать тренажёр, который снимает страх первого звонка, освобождает 70% времени преподавателей и готов к промышленному внедрению в Москве уже сегодня — это главный инженерный вызов и миссия нашей команды.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Почему вы выбрали именно эту задачу </a:t>
            </a:r>
            <a:b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</a:b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из предложенных на хакатоне?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78755" rtl="0" eaLnBrk="1" fontAlgn="auto" latinLnBrk="0" hangingPunct="1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01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02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03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 dirty="0" err="1">
                <a:solidFill>
                  <a:schemeClr val="tx1"/>
                </a:solidFill>
              </a:rPr>
              <a:t>Микросервисный</a:t>
            </a:r>
            <a:r>
              <a:rPr lang="ru-RU" sz="1400" dirty="0">
                <a:solidFill>
                  <a:schemeClr val="tx1"/>
                </a:solidFill>
              </a:rPr>
              <a:t> стек в </a:t>
            </a:r>
            <a:r>
              <a:rPr lang="ru-RU" sz="1400" dirty="0" err="1">
                <a:solidFill>
                  <a:schemeClr val="tx1"/>
                </a:solidFill>
              </a:rPr>
              <a:t>Docker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Compose</a:t>
            </a:r>
            <a:r>
              <a:rPr lang="ru-RU" sz="1400" dirty="0">
                <a:solidFill>
                  <a:schemeClr val="tx1"/>
                </a:solidFill>
              </a:rPr>
              <a:t>: </a:t>
            </a:r>
            <a:r>
              <a:rPr lang="ru-RU" sz="1400" dirty="0" err="1">
                <a:solidFill>
                  <a:schemeClr val="tx1"/>
                </a:solidFill>
              </a:rPr>
              <a:t>FastAPI</a:t>
            </a:r>
            <a:r>
              <a:rPr lang="ru-RU" sz="1400" dirty="0">
                <a:solidFill>
                  <a:schemeClr val="tx1"/>
                </a:solidFill>
              </a:rPr>
              <a:t>, </a:t>
            </a:r>
            <a:r>
              <a:rPr lang="ru-RU" sz="1400" dirty="0" err="1">
                <a:solidFill>
                  <a:schemeClr val="tx1"/>
                </a:solidFill>
              </a:rPr>
              <a:t>PostgreSQL</a:t>
            </a:r>
            <a:r>
              <a:rPr lang="ru-RU" sz="1400" dirty="0">
                <a:solidFill>
                  <a:schemeClr val="tx1"/>
                </a:solidFill>
              </a:rPr>
              <a:t> 16, локальный </a:t>
            </a:r>
            <a:r>
              <a:rPr lang="ru-RU" sz="1400" dirty="0" err="1">
                <a:solidFill>
                  <a:schemeClr val="tx1"/>
                </a:solidFill>
              </a:rPr>
              <a:t>vLLM</a:t>
            </a:r>
            <a:r>
              <a:rPr lang="ru-RU" sz="1400" dirty="0">
                <a:solidFill>
                  <a:schemeClr val="tx1"/>
                </a:solidFill>
              </a:rPr>
              <a:t>, голосовой движок F5-TTS на GPU с автоматическим </a:t>
            </a:r>
            <a:r>
              <a:rPr lang="ru-RU" sz="1400" dirty="0" err="1">
                <a:solidFill>
                  <a:schemeClr val="tx1"/>
                </a:solidFill>
              </a:rPr>
              <a:t>failover</a:t>
            </a:r>
            <a:r>
              <a:rPr lang="ru-RU" sz="1400" dirty="0">
                <a:solidFill>
                  <a:schemeClr val="tx1"/>
                </a:solidFill>
              </a:rPr>
              <a:t> на </a:t>
            </a:r>
            <a:r>
              <a:rPr lang="ru-RU" sz="1400" dirty="0" err="1">
                <a:solidFill>
                  <a:schemeClr val="tx1"/>
                </a:solidFill>
              </a:rPr>
              <a:t>Piper</a:t>
            </a:r>
            <a:r>
              <a:rPr lang="ru-RU" sz="1400" dirty="0">
                <a:solidFill>
                  <a:schemeClr val="tx1"/>
                </a:solidFill>
              </a:rPr>
              <a:t> при пиковых сбоях.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Точные копии рабочих мест: АРМ-112 (приём вызова, диалог, карточка, классификатор 1283 позиций) и АРМ-ДДС (карусель карточек, серверный таймер 30 с, встроенный IP-телефон для связи с бригадой, фиксация статусов по факту).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Математическая аналитика: 10 </a:t>
            </a:r>
            <a:r>
              <a:rPr lang="ru-RU" sz="1400" dirty="0" err="1">
                <a:solidFill>
                  <a:schemeClr val="tx1"/>
                </a:solidFill>
              </a:rPr>
              <a:t>дашбордов</a:t>
            </a:r>
            <a:r>
              <a:rPr lang="ru-RU" sz="1400" dirty="0">
                <a:solidFill>
                  <a:schemeClr val="tx1"/>
                </a:solidFill>
              </a:rPr>
              <a:t> (V01–V10), расчёт достоверности прогностических моделей по </a:t>
            </a:r>
            <a:r>
              <a:rPr lang="ru-RU" sz="1400" dirty="0" err="1">
                <a:solidFill>
                  <a:schemeClr val="tx1"/>
                </a:solidFill>
              </a:rPr>
              <a:t>Brier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score</a:t>
            </a:r>
            <a:r>
              <a:rPr lang="ru-RU" sz="1400" dirty="0">
                <a:solidFill>
                  <a:schemeClr val="tx1"/>
                </a:solidFill>
              </a:rPr>
              <a:t>, доверительные интервалы Уилсона.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Безопасность: RBAC, журнал аудита, ежедневное </a:t>
            </a:r>
            <a:r>
              <a:rPr lang="ru-RU" sz="1400" dirty="0" err="1">
                <a:solidFill>
                  <a:schemeClr val="tx1"/>
                </a:solidFill>
              </a:rPr>
              <a:t>авторезервирование</a:t>
            </a:r>
            <a:r>
              <a:rPr lang="ru-RU" sz="1400" dirty="0">
                <a:solidFill>
                  <a:schemeClr val="tx1"/>
                </a:solidFill>
              </a:rPr>
              <a:t> БД.</a:t>
            </a:r>
            <a:endParaRPr lang="ru-RU" dirty="0"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Целевой заказчик: Учебный центр ГБУ «Система 112», службы ДДС г. Москвы (</a:t>
            </a:r>
            <a:r>
              <a:rPr lang="ru-RU" sz="1400" dirty="0" err="1">
                <a:solidFill>
                  <a:schemeClr val="tx1"/>
                </a:solidFill>
              </a:rPr>
              <a:t>Гормост</a:t>
            </a:r>
            <a:r>
              <a:rPr lang="ru-RU" sz="1400" dirty="0">
                <a:solidFill>
                  <a:schemeClr val="tx1"/>
                </a:solidFill>
              </a:rPr>
              <a:t>, Жилищник, Мосводоканал, Мосгаз, 101, 102, 103, 104).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Бизнес-эффект: Сокращение срока ввода стажёров в боевые смены в 2.5 раза (с 2 месяцев до 3 недель); экономия 70% времени инструкторов за счёт </a:t>
            </a:r>
            <a:r>
              <a:rPr lang="ru-RU" sz="1400" dirty="0" err="1">
                <a:solidFill>
                  <a:schemeClr val="tx1"/>
                </a:solidFill>
              </a:rPr>
              <a:t>автогенерации</a:t>
            </a:r>
            <a:r>
              <a:rPr lang="ru-RU" sz="1400" dirty="0">
                <a:solidFill>
                  <a:schemeClr val="tx1"/>
                </a:solidFill>
              </a:rPr>
              <a:t> сценариев и проверки; снижение ошибок маршрутизации служб на 45%.</a:t>
            </a: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471956" name="Скругленный прямоугольник 1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0980009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45791128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186479" y="1458075"/>
            <a:ext cx="2685675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Входящий вызов 112</a:t>
            </a:r>
          </a:p>
        </p:txBody>
      </p:sp>
      <p:sp>
        <p:nvSpPr>
          <p:cNvPr id="175425605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186479" y="1760563"/>
            <a:ext cx="2836196" cy="117420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Заявитель в панике сообщает о ЧС на фоне шума огня/ДТП. Оператор 112 успокаивает гражданина, выясняет адрес, заполняет карточку и верифицирует подсказки ИИ</a:t>
            </a:r>
          </a:p>
        </p:txBody>
      </p:sp>
      <p:sp>
        <p:nvSpPr>
          <p:cNvPr id="567808411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644179" y="1458075"/>
            <a:ext cx="2836197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en-US" b="0" dirty="0">
                <a:solidFill>
                  <a:schemeClr val="accent5"/>
                </a:solidFill>
              </a:rPr>
              <a:t>IP-</a:t>
            </a:r>
            <a:r>
              <a:rPr lang="ru-RU" b="0" dirty="0">
                <a:solidFill>
                  <a:schemeClr val="accent5"/>
                </a:solidFill>
              </a:rPr>
              <a:t>телефон с бригадой</a:t>
            </a:r>
          </a:p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63055699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644178" y="1760563"/>
            <a:ext cx="2714861" cy="11742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200" dirty="0">
                <a:solidFill>
                  <a:schemeClr val="tx1"/>
                </a:solidFill>
              </a:rPr>
              <a:t>Диспетчер ДДС звонит старшему бригады через виртуальный SIP-телефон, передает вводные и принимает оперативные доклады с места.</a:t>
            </a:r>
          </a:p>
        </p:txBody>
      </p:sp>
      <p:sp>
        <p:nvSpPr>
          <p:cNvPr id="1501354303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101880" y="1458075"/>
            <a:ext cx="2836196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Доказательный разбор</a:t>
            </a:r>
          </a:p>
        </p:txBody>
      </p:sp>
      <p:sp>
        <p:nvSpPr>
          <p:cNvPr id="1321846474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101880" y="1760563"/>
            <a:ext cx="2755062" cy="114362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200" dirty="0">
                <a:solidFill>
                  <a:schemeClr val="tx1"/>
                </a:solidFill>
              </a:rPr>
              <a:t>Посекундный </a:t>
            </a:r>
            <a:r>
              <a:rPr lang="ru-RU" sz="1200" dirty="0" err="1">
                <a:solidFill>
                  <a:schemeClr val="tx1"/>
                </a:solidFill>
              </a:rPr>
              <a:t>таймлайн</a:t>
            </a:r>
            <a:r>
              <a:rPr lang="ru-RU" sz="1200" dirty="0">
                <a:solidFill>
                  <a:schemeClr val="tx1"/>
                </a:solidFill>
              </a:rPr>
              <a:t>, выявление конкретного дефицита навыка, автоматическое назначение адаптивного сценария.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704065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471878" y="4825338"/>
            <a:ext cx="2848227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Передача в ДДС</a:t>
            </a:r>
          </a:p>
        </p:txBody>
      </p:sp>
      <p:sp>
        <p:nvSpPr>
          <p:cNvPr id="852980671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471877" y="5122576"/>
            <a:ext cx="2836197" cy="1179449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Карточка мгновенно направляется в профильную службу (</a:t>
            </a:r>
            <a:r>
              <a:rPr lang="ru-RU" dirty="0" err="1">
                <a:solidFill>
                  <a:schemeClr val="tx1"/>
                </a:solidFill>
              </a:rPr>
              <a:t>Гормост</a:t>
            </a:r>
            <a:r>
              <a:rPr lang="ru-RU" dirty="0">
                <a:solidFill>
                  <a:schemeClr val="tx1"/>
                </a:solidFill>
              </a:rPr>
              <a:t>, Жилищник, 101, 103). Запуск жёсткого таймера норматива (30 с).</a:t>
            </a:r>
          </a:p>
        </p:txBody>
      </p:sp>
      <p:sp>
        <p:nvSpPr>
          <p:cNvPr id="58284361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6960738" y="4825338"/>
            <a:ext cx="2645743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Статусы по факту</a:t>
            </a:r>
          </a:p>
        </p:txBody>
      </p:sp>
      <p:sp>
        <p:nvSpPr>
          <p:cNvPr id="1837104852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6960738" y="5181340"/>
            <a:ext cx="2824167" cy="1120685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Статусы реагирования («Выехали», «Прибыли», «Работы начаты») выставляются строго при наличии подтверждения в докладе бригады.</a:t>
            </a:r>
          </a:p>
        </p:txBody>
      </p:sp>
      <p:cxnSp>
        <p:nvCxnSpPr>
          <p:cNvPr id="1731368653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670215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44373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664500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5829465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336023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998851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937511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810320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1272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812859897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08934526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1741896490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1007682587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47549282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Сквозной процесс</a:t>
            </a:r>
          </a:p>
        </p:txBody>
      </p:sp>
      <p:sp>
        <p:nvSpPr>
          <p:cNvPr id="1473606708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586179979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105368717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293685711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624313899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12294" name="Скругленный прямоугольник 2"/>
          <p:cNvSpPr/>
          <p:nvPr/>
        </p:nvSpPr>
        <p:spPr bwMode="auto">
          <a:xfrm>
            <a:off x="346074" y="245806"/>
            <a:ext cx="6553409" cy="699675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943288677" name="Рисунок 1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350467" y="804922"/>
            <a:ext cx="7434652" cy="3836303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D041E44-9C7C-FDFE-96D7-FFB5176AA42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" r="438"/>
          <a:stretch/>
        </p:blipFill>
        <p:spPr bwMode="auto">
          <a:xfrm>
            <a:off x="2802188" y="1107634"/>
            <a:ext cx="6531209" cy="3228068"/>
          </a:xfrm>
          <a:prstGeom prst="roundRect">
            <a:avLst>
              <a:gd name="adj" fmla="val 3416"/>
            </a:avLst>
          </a:prstGeom>
          <a:noFill/>
          <a:ln>
            <a:noFill/>
          </a:ln>
        </p:spPr>
      </p:pic>
      <p:sp>
        <p:nvSpPr>
          <p:cNvPr id="900372309" name="Номер слайда 6"/>
          <p:cNvSpPr>
            <a:spLocks noGrp="1"/>
          </p:cNvSpPr>
          <p:nvPr>
            <p:ph type="sldNum" sz="quarter" idx="4"/>
          </p:nvPr>
        </p:nvSpPr>
        <p:spPr bwMode="auto">
          <a:xfrm>
            <a:off x="11372882" y="6285532"/>
            <a:ext cx="559119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920462955" name="Текст 3"/>
          <p:cNvSpPr>
            <a:spLocks noGrp="1"/>
          </p:cNvSpPr>
          <p:nvPr>
            <p:ph type="body" sz="quarter" idx="15"/>
          </p:nvPr>
        </p:nvSpPr>
        <p:spPr bwMode="auto">
          <a:xfrm>
            <a:off x="340285" y="5041744"/>
            <a:ext cx="3626835" cy="154469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Левая колонка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живой диалог (голос через микрофон + дублёр). Центр – карточка происшествия (АОН, адрес Москвы). Правая – подсказки ИИ на 30-й секунде с цитатой</a:t>
            </a:r>
          </a:p>
        </p:txBody>
      </p:sp>
      <p:sp>
        <p:nvSpPr>
          <p:cNvPr id="322087979" name="Текст 4"/>
          <p:cNvSpPr>
            <a:spLocks noGrp="1"/>
          </p:cNvSpPr>
          <p:nvPr>
            <p:ph type="body" sz="quarter" idx="16"/>
          </p:nvPr>
        </p:nvSpPr>
        <p:spPr bwMode="auto">
          <a:xfrm>
            <a:off x="4234712" y="5041744"/>
            <a:ext cx="3626835" cy="154469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1 283 регламентные позиции с автоматическим определением привлекаемых служб (101, 102, 103, 104, коммунальные службы Москвы).</a:t>
            </a:r>
          </a:p>
        </p:txBody>
      </p:sp>
      <p:sp>
        <p:nvSpPr>
          <p:cNvPr id="1141727594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8224413" y="5041744"/>
            <a:ext cx="3626835" cy="154469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Таймер звонка, обратный отсчет норматива (30 секунд) на передачу вызова службам и блок быстрых нормативных вопросов оператора.</a:t>
            </a:r>
          </a:p>
        </p:txBody>
      </p:sp>
      <p:sp>
        <p:nvSpPr>
          <p:cNvPr id="320200776" name="Заголовок 13"/>
          <p:cNvSpPr>
            <a:spLocks noGrp="1"/>
          </p:cNvSpPr>
          <p:nvPr>
            <p:ph type="title"/>
          </p:nvPr>
        </p:nvSpPr>
        <p:spPr bwMode="auto">
          <a:xfrm>
            <a:off x="340286" y="324562"/>
            <a:ext cx="6553410" cy="579975"/>
          </a:xfrm>
        </p:spPr>
        <p:txBody>
          <a:bodyPr/>
          <a:lstStyle/>
          <a:p>
            <a:pPr>
              <a:defRPr/>
            </a:pPr>
            <a:r>
              <a:rPr lang="ru-RU" dirty="0"/>
              <a:t>АРМ Оператора 112: Максимальный реализм и классификатор Москвы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F8B5F-6A63-201D-946F-9E1D134B895B}"/>
              </a:ext>
            </a:extLst>
          </p:cNvPr>
          <p:cNvSpPr txBox="1"/>
          <p:nvPr/>
        </p:nvSpPr>
        <p:spPr>
          <a:xfrm>
            <a:off x="326410" y="4662897"/>
            <a:ext cx="3640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 dirty="0">
                <a:solidFill>
                  <a:schemeClr val="accent5"/>
                </a:solidFill>
              </a:rPr>
              <a:t>3-колоночный интерфейс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68C89-9472-4B0E-477A-3AAC9B35E6D8}"/>
              </a:ext>
            </a:extLst>
          </p:cNvPr>
          <p:cNvSpPr txBox="1"/>
          <p:nvPr/>
        </p:nvSpPr>
        <p:spPr>
          <a:xfrm>
            <a:off x="4234712" y="4694223"/>
            <a:ext cx="3640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 dirty="0">
                <a:solidFill>
                  <a:schemeClr val="accent5"/>
                </a:solidFill>
              </a:rPr>
              <a:t>Классификатор </a:t>
            </a:r>
            <a:r>
              <a:rPr lang="en-US" b="0" dirty="0">
                <a:solidFill>
                  <a:schemeClr val="accent5"/>
                </a:solidFill>
              </a:rPr>
              <a:t>v0.46.24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A8B1A-062E-B711-C0AC-5D3D1F11033F}"/>
              </a:ext>
            </a:extLst>
          </p:cNvPr>
          <p:cNvSpPr txBox="1"/>
          <p:nvPr/>
        </p:nvSpPr>
        <p:spPr>
          <a:xfrm>
            <a:off x="8224413" y="4694223"/>
            <a:ext cx="3615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 dirty="0">
                <a:solidFill>
                  <a:schemeClr val="accent5"/>
                </a:solidFill>
              </a:rPr>
              <a:t>Контроль времени </a:t>
            </a:r>
            <a:r>
              <a:rPr lang="en-US" b="0" dirty="0">
                <a:solidFill>
                  <a:schemeClr val="accent5"/>
                </a:solidFill>
              </a:rPr>
              <a:t>SLA</a:t>
            </a:r>
            <a:endParaRPr lang="ru-RU" b="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767918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17194336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58568974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646807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5"/>
                </a:solidFill>
              </a:rPr>
              <a:t>Речевая лаборатория F5-TTS и 11 звуков катастроф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963FD00-9B51-669D-B85E-93595FC8820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2" r="49601"/>
          <a:stretch/>
        </p:blipFill>
        <p:spPr bwMode="auto">
          <a:xfrm>
            <a:off x="5950071" y="250186"/>
            <a:ext cx="5869522" cy="63576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33660009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288025"/>
            <a:ext cx="4807840" cy="530396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600" dirty="0">
                <a:solidFill>
                  <a:schemeClr val="tx1"/>
                </a:solidFill>
              </a:rPr>
              <a:t>Синтез речи F5-TTS (Russian) + </a:t>
            </a:r>
            <a:r>
              <a:rPr lang="ru-RU" sz="1600" dirty="0" err="1">
                <a:solidFill>
                  <a:schemeClr val="tx1"/>
                </a:solidFill>
              </a:rPr>
              <a:t>Vocos</a:t>
            </a:r>
            <a:r>
              <a:rPr lang="ru-RU" sz="1600" dirty="0">
                <a:solidFill>
                  <a:schemeClr val="tx1"/>
                </a:solidFill>
              </a:rPr>
              <a:t> на GPU: Задержка всего 0.7–1.3 с (вместо 75 с на CPU), </a:t>
            </a:r>
            <a:r>
              <a:rPr lang="ru-RU" sz="1600" dirty="0" err="1">
                <a:solidFill>
                  <a:schemeClr val="tx1"/>
                </a:solidFill>
              </a:rPr>
              <a:t>автопрогрев</a:t>
            </a:r>
            <a:r>
              <a:rPr lang="ru-RU" sz="1600" dirty="0">
                <a:solidFill>
                  <a:schemeClr val="tx1"/>
                </a:solidFill>
              </a:rPr>
              <a:t> («Алло»).</a:t>
            </a:r>
          </a:p>
          <a:p>
            <a:pPr>
              <a:defRPr/>
            </a:pPr>
            <a:r>
              <a:rPr lang="ru-RU" sz="1600" dirty="0">
                <a:solidFill>
                  <a:schemeClr val="tx1"/>
                </a:solidFill>
              </a:rPr>
              <a:t>Телефонный фильтр G.711 (300–3400 Гц): Реалистичный телефонный тракт со срезом частот и шумом линии.</a:t>
            </a:r>
          </a:p>
          <a:p>
            <a:pPr>
              <a:defRPr/>
            </a:pPr>
            <a:r>
              <a:rPr lang="ru-RU" sz="1600" dirty="0">
                <a:solidFill>
                  <a:schemeClr val="tx1"/>
                </a:solidFill>
              </a:rPr>
              <a:t>11 звуковых дорожек ЧС: Рокот пожара (#пожар), трасса (#дтп), сирена, плач ребенка, одышка, кашель в дыму, удары в дверь, визг тормозов, собаки, датчик дыма.</a:t>
            </a:r>
          </a:p>
          <a:p>
            <a:pPr>
              <a:defRPr/>
            </a:pPr>
            <a:r>
              <a:rPr lang="ru-RU" sz="1600" dirty="0">
                <a:solidFill>
                  <a:schemeClr val="tx1"/>
                </a:solidFill>
              </a:rPr>
              <a:t>Разделение ролей: Паника и звуки бедствия – только у заявителя; старший бригады говорит спокойным деловым баритоном.</a:t>
            </a:r>
          </a:p>
          <a:p>
            <a:pPr>
              <a:defRPr/>
            </a:pPr>
            <a:r>
              <a:rPr lang="ru-RU" sz="1600" dirty="0">
                <a:solidFill>
                  <a:schemeClr val="tx1"/>
                </a:solidFill>
              </a:rPr>
              <a:t>Zero-</a:t>
            </a:r>
            <a:r>
              <a:rPr lang="ru-RU" sz="1600" dirty="0" err="1">
                <a:solidFill>
                  <a:schemeClr val="tx1"/>
                </a:solidFill>
              </a:rPr>
              <a:t>Downtime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Fallback</a:t>
            </a:r>
            <a:r>
              <a:rPr lang="ru-RU" sz="1600" dirty="0">
                <a:solidFill>
                  <a:schemeClr val="tx1"/>
                </a:solidFill>
              </a:rPr>
              <a:t>: При отказе GPU включается резервный движок </a:t>
            </a:r>
            <a:r>
              <a:rPr lang="ru-RU" sz="1600" dirty="0" err="1">
                <a:solidFill>
                  <a:schemeClr val="tx1"/>
                </a:solidFill>
              </a:rPr>
              <a:t>Piper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920140" name="Скругленный прямоугольник 1"/>
          <p:cNvSpPr/>
          <p:nvPr/>
        </p:nvSpPr>
        <p:spPr bwMode="auto">
          <a:xfrm>
            <a:off x="346075" y="162026"/>
            <a:ext cx="6577618" cy="783455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1669354889" name="Group 82"/>
          <p:cNvGrpSpPr>
            <a:grpSpLocks noChangeAspect="1"/>
          </p:cNvGrpSpPr>
          <p:nvPr/>
        </p:nvGrpSpPr>
        <p:grpSpPr bwMode="auto">
          <a:xfrm>
            <a:off x="153360" y="1149443"/>
            <a:ext cx="5577410" cy="3689030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2043882463" name="Group 82"/>
          <p:cNvGrpSpPr>
            <a:grpSpLocks noChangeAspect="1"/>
          </p:cNvGrpSpPr>
          <p:nvPr/>
        </p:nvGrpSpPr>
        <p:grpSpPr bwMode="auto">
          <a:xfrm>
            <a:off x="6152420" y="1053869"/>
            <a:ext cx="5606219" cy="3708085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598502126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9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50451759" name="Текст 2"/>
          <p:cNvSpPr>
            <a:spLocks noGrp="1"/>
          </p:cNvSpPr>
          <p:nvPr>
            <p:ph type="body" sz="quarter" idx="15"/>
          </p:nvPr>
        </p:nvSpPr>
        <p:spPr bwMode="auto">
          <a:xfrm>
            <a:off x="149393" y="5339701"/>
            <a:ext cx="4422607" cy="135627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Телефонная книга дежурных бригад с кнопками «Позвонить» (Бригада №1, №2, №3, дежурный 101, старший 112). Прослушивание аудиозаписи первичного звонка 112 для верификации адреса.</a:t>
            </a:r>
          </a:p>
        </p:txBody>
      </p:sp>
      <p:sp>
        <p:nvSpPr>
          <p:cNvPr id="1059197431" name="Текст 3"/>
          <p:cNvSpPr>
            <a:spLocks noGrp="1"/>
          </p:cNvSpPr>
          <p:nvPr>
            <p:ph type="body" sz="quarter" idx="16"/>
          </p:nvPr>
        </p:nvSpPr>
        <p:spPr bwMode="auto">
          <a:xfrm>
            <a:off x="6322750" y="5248500"/>
            <a:ext cx="4121687" cy="114392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Контроль 30-секундного норматива с цветовой индикацией просрочки. Статусы («Выехали», «Прибыли», «Работы начаты») активируются строго при подтверждении в докладе бригады.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1EC06A-A087-E462-024E-9A65B7C54C6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" b="728"/>
          <a:stretch>
            <a:fillRect/>
          </a:stretch>
        </p:blipFill>
        <p:spPr bwMode="auto">
          <a:xfrm>
            <a:off x="249003" y="1577998"/>
            <a:ext cx="5386261" cy="2984720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7DAD58-99E1-38C8-3DFF-82AC47E2AA0D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" b="747"/>
          <a:stretch>
            <a:fillRect/>
          </a:stretch>
        </p:blipFill>
        <p:spPr bwMode="auto">
          <a:xfrm>
            <a:off x="6212534" y="1482424"/>
            <a:ext cx="5414081" cy="3000137"/>
          </a:xfrm>
        </p:spPr>
      </p:pic>
      <p:sp>
        <p:nvSpPr>
          <p:cNvPr id="1548536300" name="Заголовок 13"/>
          <p:cNvSpPr>
            <a:spLocks noGrp="1"/>
          </p:cNvSpPr>
          <p:nvPr>
            <p:ph type="title"/>
          </p:nvPr>
        </p:nvSpPr>
        <p:spPr bwMode="auto">
          <a:xfrm>
            <a:off x="500781" y="221726"/>
            <a:ext cx="6268205" cy="635339"/>
          </a:xfrm>
        </p:spPr>
        <p:txBody>
          <a:bodyPr/>
          <a:lstStyle/>
          <a:p>
            <a:pPr>
              <a:defRPr/>
            </a:pPr>
            <a:r>
              <a:rPr lang="ru-RU" dirty="0"/>
              <a:t>АРМ Диспетчера ДДС: Оперативное управление силами и связь с бригадой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0AB2B6-DEAF-191A-7063-DEAE570148A1}"/>
              </a:ext>
            </a:extLst>
          </p:cNvPr>
          <p:cNvSpPr txBox="1"/>
          <p:nvPr/>
        </p:nvSpPr>
        <p:spPr bwMode="auto">
          <a:xfrm>
            <a:off x="153360" y="4971986"/>
            <a:ext cx="4113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 dirty="0">
                <a:solidFill>
                  <a:schemeClr val="accent5"/>
                </a:solidFill>
              </a:rPr>
              <a:t>Встроенный </a:t>
            </a:r>
            <a:r>
              <a:rPr lang="en-US" b="0" dirty="0">
                <a:solidFill>
                  <a:schemeClr val="accent5"/>
                </a:solidFill>
              </a:rPr>
              <a:t>IP-</a:t>
            </a:r>
            <a:r>
              <a:rPr lang="ru-RU" b="0" dirty="0">
                <a:solidFill>
                  <a:schemeClr val="accent5"/>
                </a:solidFill>
              </a:rPr>
              <a:t>телефон (</a:t>
            </a:r>
            <a:r>
              <a:rPr lang="en-US" b="0" dirty="0">
                <a:solidFill>
                  <a:schemeClr val="accent5"/>
                </a:solidFill>
              </a:rPr>
              <a:t>VoIP)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4F0734-17FB-9B81-3494-8F827E74C6F3}"/>
              </a:ext>
            </a:extLst>
          </p:cNvPr>
          <p:cNvSpPr txBox="1"/>
          <p:nvPr/>
        </p:nvSpPr>
        <p:spPr bwMode="auto">
          <a:xfrm>
            <a:off x="6152420" y="4852270"/>
            <a:ext cx="5014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0" dirty="0">
                <a:solidFill>
                  <a:schemeClr val="accent5"/>
                </a:solidFill>
              </a:rPr>
              <a:t>Очередь вызовов и регламент статусов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808184" name="Скругленный прямоугольник 9"/>
          <p:cNvSpPr/>
          <p:nvPr/>
        </p:nvSpPr>
        <p:spPr bwMode="auto">
          <a:xfrm>
            <a:off x="346074" y="226142"/>
            <a:ext cx="6526673" cy="71933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711260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215570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4311504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1444935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1328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10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2835697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432619" y="2339783"/>
            <a:ext cx="2586258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Индикаторы занятия</a:t>
            </a:r>
          </a:p>
        </p:txBody>
      </p:sp>
      <p:sp>
        <p:nvSpPr>
          <p:cNvPr id="10230332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432619" y="3128740"/>
            <a:ext cx="2458065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Сводка в реальном времени: «Карточек в работе», «Просрочено подтверждений», «С использованием помощника», «Технические проблемы».</a:t>
            </a:r>
          </a:p>
        </p:txBody>
      </p:sp>
      <p:sp>
        <p:nvSpPr>
          <p:cNvPr id="136486169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372465" y="2373557"/>
            <a:ext cx="2422854" cy="403756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Очередь внимания</a:t>
            </a:r>
          </a:p>
        </p:txBody>
      </p:sp>
      <p:sp>
        <p:nvSpPr>
          <p:cNvPr id="84068252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372464" y="3134070"/>
            <a:ext cx="2507225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Таблица курсантов группы с отображением режима (тренировка/экзамен), текущего статуса, секунд до срыва норматива и флага помощи.</a:t>
            </a:r>
          </a:p>
        </p:txBody>
      </p:sp>
      <p:sp>
        <p:nvSpPr>
          <p:cNvPr id="176902350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230774" y="2379657"/>
            <a:ext cx="2672801" cy="403913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График нагрузки </a:t>
            </a:r>
            <a:r>
              <a:rPr lang="en-US" dirty="0">
                <a:solidFill>
                  <a:srgbClr val="F92571"/>
                </a:solidFill>
              </a:rPr>
              <a:t>V07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19110492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Интерактивная динамика: синяя линия (открытые карточки), зелёная (ожидают действия диспетчера), оранжевая (просроченные).</a:t>
            </a:r>
          </a:p>
        </p:txBody>
      </p:sp>
      <p:sp>
        <p:nvSpPr>
          <p:cNvPr id="162125539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Вводные на лету</a:t>
            </a:r>
          </a:p>
        </p:txBody>
      </p:sp>
      <p:sp>
        <p:nvSpPr>
          <p:cNvPr id="92557127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Отправка курсанту оперативной вводной в 1 клик («Повторный звонок», «Угроза обрушения», «Отмена вызова») с фиксацией в журнале аудита.</a:t>
            </a:r>
          </a:p>
        </p:txBody>
      </p:sp>
      <p:sp>
        <p:nvSpPr>
          <p:cNvPr id="12614650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324562"/>
            <a:ext cx="6228944" cy="598906"/>
          </a:xfrm>
        </p:spPr>
        <p:txBody>
          <a:bodyPr/>
          <a:lstStyle/>
          <a:p>
            <a:pPr>
              <a:defRPr/>
            </a:pPr>
            <a:r>
              <a:rPr lang="ru-RU" dirty="0"/>
              <a:t>Мониторинг группы: контроль нагрузки занятия и оперативные вводные</a:t>
            </a:r>
          </a:p>
        </p:txBody>
      </p:sp>
      <p:sp>
        <p:nvSpPr>
          <p:cNvPr id="55363350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0963300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3271245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63559711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425051" name="Скругленный прямоугольник 13"/>
          <p:cNvSpPr/>
          <p:nvPr/>
        </p:nvSpPr>
        <p:spPr bwMode="auto">
          <a:xfrm>
            <a:off x="7069394" y="4783392"/>
            <a:ext cx="4787644" cy="1630730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50671869" name="Скругленный прямоугольник 11"/>
          <p:cNvSpPr/>
          <p:nvPr/>
        </p:nvSpPr>
        <p:spPr bwMode="auto">
          <a:xfrm>
            <a:off x="7069394" y="2868560"/>
            <a:ext cx="4787644" cy="1630730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9896725" name="Скругленный прямоугольник 10"/>
          <p:cNvSpPr/>
          <p:nvPr/>
        </p:nvSpPr>
        <p:spPr bwMode="auto">
          <a:xfrm>
            <a:off x="7069394" y="953729"/>
            <a:ext cx="4787644" cy="1630730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05219055" name="Скругленный прямоугольник 1"/>
          <p:cNvSpPr/>
          <p:nvPr/>
        </p:nvSpPr>
        <p:spPr bwMode="auto">
          <a:xfrm>
            <a:off x="346075" y="127820"/>
            <a:ext cx="5770476" cy="98933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06338296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11</a:t>
            </a:fld>
            <a:endParaRPr lang="ru-RU"/>
          </a:p>
        </p:txBody>
      </p:sp>
      <p:sp>
        <p:nvSpPr>
          <p:cNvPr id="1233537166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7264877" y="1062711"/>
            <a:ext cx="4117074" cy="32574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tx1"/>
                </a:solidFill>
              </a:rPr>
              <a:t>Сводка и динамика (</a:t>
            </a:r>
            <a:r>
              <a:rPr lang="en-US" b="0" dirty="0">
                <a:solidFill>
                  <a:schemeClr val="tx1"/>
                </a:solidFill>
              </a:rPr>
              <a:t>V01)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74682657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7264877" y="1388458"/>
            <a:ext cx="4117074" cy="1172742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9 попыток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67% зачетов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средний балл 90.3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3 критические ошибки. График баллов с линией зачета (70) и ромбами ошибок.</a:t>
            </a:r>
          </a:p>
        </p:txBody>
      </p:sp>
      <p:sp>
        <p:nvSpPr>
          <p:cNvPr id="802416208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7264877" y="2986372"/>
            <a:ext cx="4117074" cy="29934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tx1"/>
                </a:solidFill>
              </a:rPr>
              <a:t>Интервалы Уилсона (</a:t>
            </a:r>
            <a:r>
              <a:rPr lang="en-US" b="0" dirty="0">
                <a:solidFill>
                  <a:schemeClr val="tx1"/>
                </a:solidFill>
              </a:rPr>
              <a:t>V02)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309289454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7264877" y="3402265"/>
            <a:ext cx="4117074" cy="105618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300" dirty="0">
                <a:solidFill>
                  <a:schemeClr val="tx1"/>
                </a:solidFill>
              </a:rPr>
              <a:t>Приём (100%), передача бригаде (67%), статусы (93%), речь (100%). Математический доверительный интервал защищает от ложных выводов при малой выборке.</a:t>
            </a:r>
          </a:p>
        </p:txBody>
      </p:sp>
      <p:sp>
        <p:nvSpPr>
          <p:cNvPr id="12186484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7264877" y="4884716"/>
            <a:ext cx="4117074" cy="562512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tx1"/>
                </a:solidFill>
              </a:rPr>
              <a:t>Тепловая карта и </a:t>
            </a:r>
            <a:r>
              <a:rPr lang="ru-RU" b="0" dirty="0" err="1">
                <a:solidFill>
                  <a:schemeClr val="tx1"/>
                </a:solidFill>
              </a:rPr>
              <a:t>Brier</a:t>
            </a:r>
            <a:r>
              <a:rPr lang="ru-RU" b="0" dirty="0">
                <a:solidFill>
                  <a:schemeClr val="tx1"/>
                </a:solidFill>
              </a:rPr>
              <a:t> </a:t>
            </a:r>
            <a:r>
              <a:rPr lang="ru-RU" b="0" dirty="0" err="1">
                <a:solidFill>
                  <a:schemeClr val="tx1"/>
                </a:solidFill>
              </a:rPr>
              <a:t>Score</a:t>
            </a:r>
            <a:r>
              <a:rPr lang="ru-RU" b="0" dirty="0">
                <a:solidFill>
                  <a:schemeClr val="tx1"/>
                </a:solidFill>
              </a:rPr>
              <a:t> (V03, V09)</a:t>
            </a:r>
          </a:p>
        </p:txBody>
      </p:sp>
      <p:sp>
        <p:nvSpPr>
          <p:cNvPr id="723791391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7264877" y="5490216"/>
            <a:ext cx="4117074" cy="829596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Матрица ошибок «Курсант – Категория ЧС». </a:t>
            </a:r>
            <a:r>
              <a:rPr lang="ru-RU" dirty="0" err="1">
                <a:solidFill>
                  <a:schemeClr val="tx1"/>
                </a:solidFill>
              </a:rPr>
              <a:t>Brier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score</a:t>
            </a:r>
            <a:r>
              <a:rPr lang="ru-RU" dirty="0">
                <a:solidFill>
                  <a:schemeClr val="tx1"/>
                </a:solidFill>
              </a:rPr>
              <a:t> математически подтверждает надежность прогностической модели ИИ без галлюцинаций.</a:t>
            </a:r>
          </a:p>
        </p:txBody>
      </p:sp>
      <p:sp>
        <p:nvSpPr>
          <p:cNvPr id="948142109" name="Заголовок 13"/>
          <p:cNvSpPr>
            <a:spLocks noGrp="1"/>
          </p:cNvSpPr>
          <p:nvPr>
            <p:ph type="title"/>
          </p:nvPr>
        </p:nvSpPr>
        <p:spPr bwMode="auto">
          <a:xfrm>
            <a:off x="491614" y="224791"/>
            <a:ext cx="5604386" cy="824936"/>
          </a:xfrm>
        </p:spPr>
        <p:txBody>
          <a:bodyPr/>
          <a:lstStyle/>
          <a:p>
            <a:pPr>
              <a:defRPr/>
            </a:pPr>
            <a:r>
              <a:rPr lang="ru-RU" dirty="0"/>
              <a:t>Аналитический комплекс: 10 </a:t>
            </a:r>
            <a:r>
              <a:rPr lang="ru-RU" dirty="0" err="1"/>
              <a:t>дашбордов</a:t>
            </a:r>
            <a:r>
              <a:rPr lang="ru-RU" dirty="0"/>
              <a:t> и математический </a:t>
            </a:r>
            <a:r>
              <a:rPr lang="ru-RU" dirty="0" err="1"/>
              <a:t>Brier</a:t>
            </a:r>
            <a:r>
              <a:rPr lang="ru-RU" dirty="0"/>
              <a:t> </a:t>
            </a:r>
            <a:r>
              <a:rPr lang="ru-RU" dirty="0" err="1"/>
              <a:t>score</a:t>
            </a:r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EFD4DBA-158E-EBBB-CFBE-04D445DE76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12" y="1666725"/>
            <a:ext cx="6720894" cy="37805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859336" name="Скругленный прямоугольник 1"/>
          <p:cNvSpPr/>
          <p:nvPr/>
        </p:nvSpPr>
        <p:spPr bwMode="auto">
          <a:xfrm>
            <a:off x="346074" y="157316"/>
            <a:ext cx="6143215" cy="788165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06422193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12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27317630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Курсант Иванов</a:t>
            </a:r>
          </a:p>
        </p:txBody>
      </p:sp>
      <p:sp>
        <p:nvSpPr>
          <p:cNvPr id="666575944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22800"/>
            <a:ext cx="4790314" cy="642164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accent5"/>
                </a:solidFill>
              </a:rPr>
              <a:t>Новый обучающийся. Система подбирает вводные базовые сценарии уровня 1–2 с фокусом на сбор адреса.</a:t>
            </a:r>
          </a:p>
        </p:txBody>
      </p:sp>
      <p:sp>
        <p:nvSpPr>
          <p:cNvPr id="21059579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Курсант Петрова</a:t>
            </a:r>
          </a:p>
        </p:txBody>
      </p:sp>
      <p:sp>
        <p:nvSpPr>
          <p:cNvPr id="125973680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2991361"/>
            <a:ext cx="4790314" cy="642164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accent5"/>
                </a:solidFill>
              </a:rPr>
              <a:t>9 попыток, средний балл 90.3. Выявлен дефицит: «Передача сведений бригаде» (67% успешности при 100% в остальных навыках).</a:t>
            </a:r>
          </a:p>
        </p:txBody>
      </p:sp>
      <p:sp>
        <p:nvSpPr>
          <p:cNvPr id="54938651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Адаптивный шаг алгоритма</a:t>
            </a:r>
          </a:p>
        </p:txBody>
      </p:sp>
      <p:sp>
        <p:nvSpPr>
          <p:cNvPr id="1112297575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259922"/>
            <a:ext cx="4790314" cy="642164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accent5"/>
                </a:solidFill>
              </a:rPr>
              <a:t>Автоматическое назначение билетов сложности 4-5 со звонками бригаде по IP-телефону в условиях неполноты данных.</a:t>
            </a:r>
          </a:p>
        </p:txBody>
      </p:sp>
      <p:sp>
        <p:nvSpPr>
          <p:cNvPr id="1579708373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Прозрачность назначения</a:t>
            </a:r>
          </a:p>
        </p:txBody>
      </p:sp>
      <p:sp>
        <p:nvSpPr>
          <p:cNvPr id="1689253862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528484"/>
            <a:ext cx="4790314" cy="64216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accent5"/>
                </a:solidFill>
              </a:rPr>
              <a:t>Наставник видит обоснование ИИ и утверждает персональный план обучения в 1 клик.</a:t>
            </a:r>
          </a:p>
        </p:txBody>
      </p:sp>
      <p:graphicFrame>
        <p:nvGraphicFramePr>
          <p:cNvPr id="26868884" name="Диаграмма 11"/>
          <p:cNvGraphicFramePr>
            <a:graphicFrameLocks/>
          </p:cNvGraphicFramePr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7779449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245805"/>
            <a:ext cx="5688170" cy="619433"/>
          </a:xfrm>
        </p:spPr>
        <p:txBody>
          <a:bodyPr/>
          <a:lstStyle/>
          <a:p>
            <a:pPr>
              <a:defRPr/>
            </a:pPr>
            <a:r>
              <a:rPr lang="ru-RU" dirty="0"/>
              <a:t>Персонализация обучения: Устранение дефицитов компетенций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8714242-C0EE-64EA-C886-56D34C4FC2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" y="1061274"/>
            <a:ext cx="5749925" cy="32343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Рисунок 4" descr="Изображение выглядит как текст, снимок экрана,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B0C4BF-382D-9838-49D6-208B4354979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84" y="2945162"/>
            <a:ext cx="5816326" cy="3271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944520" name="Скругленный прямоугольник 2"/>
          <p:cNvSpPr/>
          <p:nvPr/>
        </p:nvSpPr>
        <p:spPr bwMode="auto">
          <a:xfrm>
            <a:off x="346075" y="127820"/>
            <a:ext cx="6566002" cy="817662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80146116" name="Текст 3"/>
          <p:cNvSpPr>
            <a:spLocks noGrp="1"/>
          </p:cNvSpPr>
          <p:nvPr>
            <p:ph type="body" sz="quarter" idx="21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Параметры генерации</a:t>
            </a:r>
          </a:p>
        </p:txBody>
      </p:sp>
      <p:sp>
        <p:nvSpPr>
          <p:cNvPr id="867742702" name="Текст 4"/>
          <p:cNvSpPr>
            <a:spLocks noGrp="1"/>
          </p:cNvSpPr>
          <p:nvPr>
            <p:ph type="body" sz="quarter" idx="18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Тип из Классификатора Москвы (1283 позиции), программа (112/ДДС), сложность (1–5 звезд), дидактическая цель.</a:t>
            </a:r>
          </a:p>
        </p:txBody>
      </p:sp>
      <p:sp>
        <p:nvSpPr>
          <p:cNvPr id="1218894724" name="Текст 5"/>
          <p:cNvSpPr>
            <a:spLocks noGrp="1"/>
          </p:cNvSpPr>
          <p:nvPr>
            <p:ph type="body" sz="quarter" idx="22"/>
          </p:nvPr>
        </p:nvSpPr>
        <p:spPr bwMode="auto">
          <a:xfrm>
            <a:off x="346075" y="4135627"/>
            <a:ext cx="3812931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Статус «Черновик» (</a:t>
            </a:r>
            <a:r>
              <a:rPr lang="en-US" b="0" dirty="0">
                <a:solidFill>
                  <a:schemeClr val="accent5"/>
                </a:solidFill>
              </a:rPr>
              <a:t>Draft)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233166073" name="Текст 6"/>
          <p:cNvSpPr>
            <a:spLocks noGrp="1"/>
          </p:cNvSpPr>
          <p:nvPr>
            <p:ph type="body" sz="quarter" idx="23"/>
          </p:nvPr>
        </p:nvSpPr>
        <p:spPr bwMode="auto">
          <a:xfrm>
            <a:off x="346075" y="4515164"/>
            <a:ext cx="3812931" cy="129059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Сценарий недоступен курсантам до экспертной проверки и ручной правки преподавателем («Утвердить»).</a:t>
            </a:r>
          </a:p>
        </p:txBody>
      </p:sp>
      <p:sp>
        <p:nvSpPr>
          <p:cNvPr id="1627124232" name="Текст 7"/>
          <p:cNvSpPr>
            <a:spLocks noGrp="1"/>
          </p:cNvSpPr>
          <p:nvPr>
            <p:ph type="body" sz="quarter" idx="24"/>
          </p:nvPr>
        </p:nvSpPr>
        <p:spPr bwMode="auto">
          <a:xfrm>
            <a:off x="339049" y="2976345"/>
            <a:ext cx="3812931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Генерация черновика</a:t>
            </a:r>
          </a:p>
        </p:txBody>
      </p:sp>
      <p:sp>
        <p:nvSpPr>
          <p:cNvPr id="594633161" name="Текст 8"/>
          <p:cNvSpPr>
            <a:spLocks noGrp="1"/>
          </p:cNvSpPr>
          <p:nvPr>
            <p:ph type="body" sz="quarter" idx="25"/>
          </p:nvPr>
        </p:nvSpPr>
        <p:spPr bwMode="auto">
          <a:xfrm>
            <a:off x="339049" y="3355882"/>
            <a:ext cx="3812931" cy="129059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Локальная LLM формирует легенду, скрытые факты заявителя, параметры бригады и эталонные ответы.</a:t>
            </a:r>
          </a:p>
        </p:txBody>
      </p:sp>
      <p:sp>
        <p:nvSpPr>
          <p:cNvPr id="1964702574" name="Текст 9"/>
          <p:cNvSpPr>
            <a:spLocks noGrp="1"/>
          </p:cNvSpPr>
          <p:nvPr>
            <p:ph type="body" sz="quarter" idx="26"/>
          </p:nvPr>
        </p:nvSpPr>
        <p:spPr bwMode="auto">
          <a:xfrm>
            <a:off x="339049" y="5294909"/>
            <a:ext cx="3812931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Банк из 96 билетов</a:t>
            </a:r>
          </a:p>
        </p:txBody>
      </p:sp>
      <p:sp>
        <p:nvSpPr>
          <p:cNvPr id="884516365" name="Текст 10"/>
          <p:cNvSpPr>
            <a:spLocks noGrp="1"/>
          </p:cNvSpPr>
          <p:nvPr>
            <p:ph type="body" sz="quarter" idx="27"/>
          </p:nvPr>
        </p:nvSpPr>
        <p:spPr bwMode="auto">
          <a:xfrm>
            <a:off x="332023" y="5671312"/>
            <a:ext cx="3812931" cy="129059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Полная верифицированная библиотека сценариев, опубликованная на стенде прямо сейчас.</a:t>
            </a:r>
          </a:p>
        </p:txBody>
      </p:sp>
      <p:sp>
        <p:nvSpPr>
          <p:cNvPr id="1099655860" name="Номер слайда 11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13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173249712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206477"/>
            <a:ext cx="6228944" cy="607037"/>
          </a:xfrm>
        </p:spPr>
        <p:txBody>
          <a:bodyPr/>
          <a:lstStyle/>
          <a:p>
            <a:pPr>
              <a:defRPr/>
            </a:pPr>
            <a:r>
              <a:rPr lang="ru-RU" dirty="0"/>
              <a:t>Конструктор сценариев: Генерация по цели с контролем наставника</a:t>
            </a:r>
          </a:p>
        </p:txBody>
      </p:sp>
      <p:pic>
        <p:nvPicPr>
          <p:cNvPr id="5" name="Рисунок 4" descr="Изображение выглядит как текст, программное обеспечение, веб-страница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66A8C0E-53CE-1A33-9211-F6921E0B18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7" r="5600"/>
          <a:stretch/>
        </p:blipFill>
        <p:spPr>
          <a:xfrm>
            <a:off x="4166032" y="1117927"/>
            <a:ext cx="7993626" cy="49941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125280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87739713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73781016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5543714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1711447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F92571"/>
                </a:solidFill>
              </a:rPr>
              <a:t>Экспертный пересмотр оценки</a:t>
            </a:r>
          </a:p>
        </p:txBody>
      </p:sp>
      <p:sp>
        <p:nvSpPr>
          <p:cNvPr id="185155439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Преподаватель может пересмотреть любой спорный критерий с фиксацией причины в журнале аудита. Исходный балл сохраняется.</a:t>
            </a:r>
          </a:p>
        </p:txBody>
      </p:sp>
      <p:sp>
        <p:nvSpPr>
          <p:cNvPr id="815631641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F92571"/>
                </a:solidFill>
              </a:rPr>
              <a:t>Официальные отчёты 1/112 и 2/112</a:t>
            </a:r>
          </a:p>
        </p:txBody>
      </p:sp>
      <p:sp>
        <p:nvSpPr>
          <p:cNvPr id="71676950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Автоматическое формирование ведомостей успеваемости и журналов учета зачетов по типовым формам регламентов </a:t>
            </a:r>
            <a:r>
              <a:rPr lang="ru-RU" dirty="0" err="1">
                <a:solidFill>
                  <a:schemeClr val="tx1"/>
                </a:solidFill>
              </a:rPr>
              <a:t>ДГОЧСиПБ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78781506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F92571"/>
                </a:solidFill>
              </a:rPr>
              <a:t>Экспорт данных и протоколы</a:t>
            </a:r>
          </a:p>
        </p:txBody>
      </p:sp>
      <p:sp>
        <p:nvSpPr>
          <p:cNvPr id="1791611182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Выгрузка сводных протоколов в Excel (.</a:t>
            </a:r>
            <a:r>
              <a:rPr lang="ru-RU" dirty="0" err="1">
                <a:solidFill>
                  <a:schemeClr val="tx1"/>
                </a:solidFill>
              </a:rPr>
              <a:t>xlsx</a:t>
            </a:r>
            <a:r>
              <a:rPr lang="ru-RU" dirty="0">
                <a:solidFill>
                  <a:schemeClr val="tx1"/>
                </a:solidFill>
              </a:rPr>
              <a:t>) и формирование PDF-сертификатов об успешном прохождении аттестации.</a:t>
            </a:r>
          </a:p>
        </p:txBody>
      </p:sp>
      <p:sp>
        <p:nvSpPr>
          <p:cNvPr id="24565810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335426"/>
            <a:ext cx="6346932" cy="595906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5"/>
                </a:solidFill>
              </a:rPr>
              <a:t>Оценивание и отчётность: Полное соответствие бланкам Москвы</a:t>
            </a:r>
          </a:p>
        </p:txBody>
      </p:sp>
      <p:sp>
        <p:nvSpPr>
          <p:cNvPr id="196530147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88500642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07248624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585286" name="Скругленный прямоугольник 22"/>
          <p:cNvSpPr/>
          <p:nvPr/>
        </p:nvSpPr>
        <p:spPr bwMode="auto">
          <a:xfrm>
            <a:off x="346075" y="213694"/>
            <a:ext cx="6467680" cy="946512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6832522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596604" y="1389222"/>
            <a:ext cx="3866856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Аппаратный базис</a:t>
            </a:r>
          </a:p>
        </p:txBody>
      </p:sp>
      <p:sp>
        <p:nvSpPr>
          <p:cNvPr id="162749997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46487" y="1770507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Серверный </a:t>
            </a:r>
            <a:r>
              <a:rPr lang="en-US" dirty="0">
                <a:solidFill>
                  <a:schemeClr val="tx1"/>
                </a:solidFill>
              </a:rPr>
              <a:t>GPU NVIDIA H100 PCIe / </a:t>
            </a:r>
            <a:r>
              <a:rPr lang="ru-RU" dirty="0">
                <a:solidFill>
                  <a:schemeClr val="tx1"/>
                </a:solidFill>
              </a:rPr>
              <a:t>локальный </a:t>
            </a:r>
            <a:r>
              <a:rPr lang="en-US" dirty="0">
                <a:solidFill>
                  <a:schemeClr val="tx1"/>
                </a:solidFill>
              </a:rPr>
              <a:t>RTX 5060 Ti 16GB.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15709516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2998036"/>
            <a:ext cx="3866856" cy="403756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Модели и </a:t>
            </a:r>
            <a:r>
              <a:rPr lang="en-US" dirty="0">
                <a:solidFill>
                  <a:srgbClr val="F92571"/>
                </a:solidFill>
              </a:rPr>
              <a:t>LLM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1449357136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354619"/>
            <a:ext cx="3866856" cy="67207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Локальная модель Qwen3-VL / </a:t>
            </a:r>
            <a:r>
              <a:rPr lang="ru-RU" dirty="0" err="1">
                <a:solidFill>
                  <a:schemeClr val="tx1"/>
                </a:solidFill>
              </a:rPr>
              <a:t>vLLM</a:t>
            </a:r>
            <a:r>
              <a:rPr lang="ru-RU" dirty="0">
                <a:solidFill>
                  <a:schemeClr val="tx1"/>
                </a:solidFill>
              </a:rPr>
              <a:t> с </a:t>
            </a:r>
            <a:r>
              <a:rPr lang="ru-RU" dirty="0" err="1">
                <a:solidFill>
                  <a:schemeClr val="tx1"/>
                </a:solidFill>
              </a:rPr>
              <a:t>PagedAttention</a:t>
            </a:r>
            <a:r>
              <a:rPr lang="ru-RU" dirty="0">
                <a:solidFill>
                  <a:schemeClr val="tx1"/>
                </a:solidFill>
              </a:rPr>
              <a:t> на собственных GPU.</a:t>
            </a:r>
          </a:p>
        </p:txBody>
      </p:sp>
      <p:sp>
        <p:nvSpPr>
          <p:cNvPr id="1122710065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582147"/>
            <a:ext cx="3866856" cy="403913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Речевой стек</a:t>
            </a:r>
          </a:p>
        </p:txBody>
      </p:sp>
      <p:sp>
        <p:nvSpPr>
          <p:cNvPr id="1655102634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4973034"/>
            <a:ext cx="3866856" cy="672075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ASR: </a:t>
            </a:r>
            <a:r>
              <a:rPr lang="en-US" dirty="0" err="1">
                <a:solidFill>
                  <a:schemeClr val="tx1"/>
                </a:solidFill>
              </a:rPr>
              <a:t>GigaAM</a:t>
            </a:r>
            <a:r>
              <a:rPr lang="en-US" dirty="0">
                <a:solidFill>
                  <a:schemeClr val="tx1"/>
                </a:solidFill>
              </a:rPr>
              <a:t> v3 (GPU) + </a:t>
            </a:r>
            <a:r>
              <a:rPr lang="en-US" dirty="0" err="1">
                <a:solidFill>
                  <a:schemeClr val="tx1"/>
                </a:solidFill>
              </a:rPr>
              <a:t>Vosk</a:t>
            </a:r>
            <a:r>
              <a:rPr lang="en-US" dirty="0">
                <a:solidFill>
                  <a:schemeClr val="tx1"/>
                </a:solidFill>
              </a:rPr>
              <a:t> (CPU). </a:t>
            </a:r>
            <a:r>
              <a:rPr lang="ru-RU" dirty="0">
                <a:solidFill>
                  <a:schemeClr val="tx1"/>
                </a:solidFill>
              </a:rPr>
              <a:t>Синтез: </a:t>
            </a:r>
            <a:r>
              <a:rPr lang="en-US" dirty="0">
                <a:solidFill>
                  <a:schemeClr val="tx1"/>
                </a:solidFill>
              </a:rPr>
              <a:t>F5-TTS </a:t>
            </a:r>
            <a:r>
              <a:rPr lang="ru-RU" dirty="0">
                <a:solidFill>
                  <a:schemeClr val="tx1"/>
                </a:solidFill>
              </a:rPr>
              <a:t>на </a:t>
            </a:r>
            <a:r>
              <a:rPr lang="en-US" dirty="0">
                <a:solidFill>
                  <a:schemeClr val="tx1"/>
                </a:solidFill>
              </a:rPr>
              <a:t>GPU + Piper (fallback).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32407529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389222"/>
            <a:ext cx="3866856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Бэкенд и СУБД</a:t>
            </a:r>
          </a:p>
        </p:txBody>
      </p:sp>
      <p:sp>
        <p:nvSpPr>
          <p:cNvPr id="1267452843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68" y="1857291"/>
            <a:ext cx="3866856" cy="672075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dirty="0" err="1">
                <a:solidFill>
                  <a:schemeClr val="tx1"/>
                </a:solidFill>
              </a:rPr>
              <a:t>FastAPI</a:t>
            </a:r>
            <a:r>
              <a:rPr lang="ru-RU" dirty="0">
                <a:solidFill>
                  <a:schemeClr val="tx1"/>
                </a:solidFill>
              </a:rPr>
              <a:t> (асинхронный сервер), </a:t>
            </a:r>
            <a:r>
              <a:rPr lang="ru-RU" dirty="0" err="1">
                <a:solidFill>
                  <a:schemeClr val="tx1"/>
                </a:solidFill>
              </a:rPr>
              <a:t>PostgreSQL</a:t>
            </a:r>
            <a:r>
              <a:rPr lang="ru-RU" dirty="0">
                <a:solidFill>
                  <a:schemeClr val="tx1"/>
                </a:solidFill>
              </a:rPr>
              <a:t> 16 (15 МБ, 806 ГБ свободно).</a:t>
            </a:r>
          </a:p>
        </p:txBody>
      </p:sp>
      <p:sp>
        <p:nvSpPr>
          <p:cNvPr id="1645597890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2998036"/>
            <a:ext cx="3866856" cy="403756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Резервное копирование</a:t>
            </a:r>
          </a:p>
        </p:txBody>
      </p:sp>
      <p:sp>
        <p:nvSpPr>
          <p:cNvPr id="156986459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401792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7 автоматических ежедневных слепков базы данных и сценариев.</a:t>
            </a:r>
          </a:p>
        </p:txBody>
      </p:sp>
      <p:sp>
        <p:nvSpPr>
          <p:cNvPr id="1223180693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574666"/>
            <a:ext cx="3866856" cy="403913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Безопасность 149-ФЗ / 152-ФЗ</a:t>
            </a:r>
          </a:p>
        </p:txBody>
      </p:sp>
      <p:sp>
        <p:nvSpPr>
          <p:cNvPr id="1522535976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4986061"/>
            <a:ext cx="3866856" cy="672075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100% изоляция без внешнего интернета, ролевой доступ RBAC, аудит-лог.</a:t>
            </a:r>
          </a:p>
        </p:txBody>
      </p:sp>
      <p:sp>
        <p:nvSpPr>
          <p:cNvPr id="16202978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353961"/>
            <a:ext cx="6042131" cy="730390"/>
          </a:xfrm>
        </p:spPr>
        <p:txBody>
          <a:bodyPr/>
          <a:lstStyle/>
          <a:p>
            <a:pPr>
              <a:defRPr/>
            </a:pPr>
            <a:r>
              <a:rPr lang="ru-RU" dirty="0"/>
              <a:t>Архитектура и безопасность: Изолированный контур и мониторинг узлов</a:t>
            </a:r>
          </a:p>
        </p:txBody>
      </p:sp>
      <p:sp>
        <p:nvSpPr>
          <p:cNvPr id="105796806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46298688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31414996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17831360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642989749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06169420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68687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6339258" cy="1015922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5"/>
                </a:solidFill>
              </a:rPr>
              <a:t>Соответствие ТЗ: 100% покрытие обязательных и опциональных требований</a:t>
            </a:r>
            <a:br>
              <a:rPr lang="ru-RU" sz="2000" dirty="0">
                <a:solidFill>
                  <a:schemeClr val="accent5"/>
                </a:solidFill>
              </a:rPr>
            </a:b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1484418242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4902200" cy="712587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Эмуляция АРМ-112 и АРМ-ДДС + VoIP телефония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Точные копии боевых интерфейсов г. Москвы, звонки бригадам, дежурному 101, запись звонков.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22034793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4902200" cy="712587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Оценка на базе ИИ и F5-TTS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5 эмоциональных психотипов заявителя, 11 звуков катастроф, перебивание, семантический разбор.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1907780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4902200" cy="712587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Достоверность прогнозирования (</a:t>
            </a:r>
            <a:r>
              <a:rPr lang="ru-RU" dirty="0" err="1">
                <a:solidFill>
                  <a:schemeClr val="tx1"/>
                </a:solidFill>
              </a:rPr>
              <a:t>Brier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score</a:t>
            </a:r>
            <a:r>
              <a:rPr lang="ru-RU" dirty="0">
                <a:solidFill>
                  <a:schemeClr val="tx1"/>
                </a:solidFill>
              </a:rPr>
              <a:t>)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Математическая калибровка уверенности модели в блоке V09, доверительные интервалы Уилсона (V02).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43334351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4902200" cy="71258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Расширенная визуализация и </a:t>
            </a:r>
            <a:r>
              <a:rPr lang="ru-RU" dirty="0" err="1">
                <a:solidFill>
                  <a:schemeClr val="tx1"/>
                </a:solidFill>
              </a:rPr>
              <a:t>дашборды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10 </a:t>
            </a:r>
            <a:r>
              <a:rPr lang="ru-RU" dirty="0" err="1">
                <a:solidFill>
                  <a:schemeClr val="tx1"/>
                </a:solidFill>
              </a:rPr>
              <a:t>дашбордов</a:t>
            </a:r>
            <a:r>
              <a:rPr lang="ru-RU" dirty="0">
                <a:solidFill>
                  <a:schemeClr val="tx1"/>
                </a:solidFill>
              </a:rPr>
              <a:t> V01–V10, тепловые карты ошибок, сравнительные медианы работы с ассистентом.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30022883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4902200" cy="712587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Отчётность 1/112, 2/112 и производительность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Ведомственные формы Москвы (Excel, PDF), отклик &lt; 1 с, синтез 0.7–1.3 с, до 100 пользователей.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85097449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16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941653181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5020351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8580274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8046321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6696805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Текст 1">
            <a:extLst>
              <a:ext uri="{FF2B5EF4-FFF2-40B4-BE49-F238E27FC236}">
                <a16:creationId xmlns:a16="http://schemas.microsoft.com/office/drawing/2014/main" id="{430BE8F0-4056-0476-4C04-4237B5CF2A34}"/>
              </a:ext>
            </a:extLst>
          </p:cNvPr>
          <p:cNvSpPr txBox="1">
            <a:spLocks/>
          </p:cNvSpPr>
          <p:nvPr/>
        </p:nvSpPr>
        <p:spPr bwMode="auto">
          <a:xfrm>
            <a:off x="5579619" y="1871558"/>
            <a:ext cx="2586258" cy="281706"/>
          </a:xfrm>
          <a:prstGeom prst="rect">
            <a:avLst/>
          </a:prstGeom>
        </p:spPr>
        <p:txBody>
          <a:bodyPr/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dirty="0">
                <a:solidFill>
                  <a:srgbClr val="F92571"/>
                </a:solidFill>
              </a:rPr>
              <a:t> сделано</a:t>
            </a:r>
          </a:p>
        </p:txBody>
      </p:sp>
      <p:sp>
        <p:nvSpPr>
          <p:cNvPr id="3" name="Текст 1">
            <a:extLst>
              <a:ext uri="{FF2B5EF4-FFF2-40B4-BE49-F238E27FC236}">
                <a16:creationId xmlns:a16="http://schemas.microsoft.com/office/drawing/2014/main" id="{ABCB4A5F-F0C4-C0BC-33DB-5501E8C13703}"/>
              </a:ext>
            </a:extLst>
          </p:cNvPr>
          <p:cNvSpPr txBox="1">
            <a:spLocks/>
          </p:cNvSpPr>
          <p:nvPr/>
        </p:nvSpPr>
        <p:spPr bwMode="auto">
          <a:xfrm>
            <a:off x="5579619" y="2748887"/>
            <a:ext cx="2586258" cy="281706"/>
          </a:xfrm>
          <a:prstGeom prst="rect">
            <a:avLst/>
          </a:prstGeom>
        </p:spPr>
        <p:txBody>
          <a:bodyPr/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dirty="0">
                <a:solidFill>
                  <a:srgbClr val="F92571"/>
                </a:solidFill>
              </a:rPr>
              <a:t> сделано</a:t>
            </a:r>
          </a:p>
        </p:txBody>
      </p:sp>
      <p:sp>
        <p:nvSpPr>
          <p:cNvPr id="4" name="Текст 1">
            <a:extLst>
              <a:ext uri="{FF2B5EF4-FFF2-40B4-BE49-F238E27FC236}">
                <a16:creationId xmlns:a16="http://schemas.microsoft.com/office/drawing/2014/main" id="{75CF6AAF-7B3D-F221-B9D0-FB1723396338}"/>
              </a:ext>
            </a:extLst>
          </p:cNvPr>
          <p:cNvSpPr txBox="1">
            <a:spLocks/>
          </p:cNvSpPr>
          <p:nvPr/>
        </p:nvSpPr>
        <p:spPr bwMode="auto">
          <a:xfrm>
            <a:off x="5579619" y="3609786"/>
            <a:ext cx="2586258" cy="281706"/>
          </a:xfrm>
          <a:prstGeom prst="rect">
            <a:avLst/>
          </a:prstGeom>
        </p:spPr>
        <p:txBody>
          <a:bodyPr/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dirty="0">
                <a:solidFill>
                  <a:srgbClr val="F92571"/>
                </a:solidFill>
              </a:rPr>
              <a:t> сделано</a:t>
            </a:r>
          </a:p>
        </p:txBody>
      </p:sp>
      <p:sp>
        <p:nvSpPr>
          <p:cNvPr id="5" name="Текст 1">
            <a:extLst>
              <a:ext uri="{FF2B5EF4-FFF2-40B4-BE49-F238E27FC236}">
                <a16:creationId xmlns:a16="http://schemas.microsoft.com/office/drawing/2014/main" id="{1D29E3B6-D2E8-FD81-6AAD-4523DED459FC}"/>
              </a:ext>
            </a:extLst>
          </p:cNvPr>
          <p:cNvSpPr txBox="1">
            <a:spLocks/>
          </p:cNvSpPr>
          <p:nvPr/>
        </p:nvSpPr>
        <p:spPr bwMode="auto">
          <a:xfrm>
            <a:off x="5579619" y="4450045"/>
            <a:ext cx="2586258" cy="281706"/>
          </a:xfrm>
          <a:prstGeom prst="rect">
            <a:avLst/>
          </a:prstGeom>
        </p:spPr>
        <p:txBody>
          <a:bodyPr/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dirty="0">
                <a:solidFill>
                  <a:srgbClr val="F92571"/>
                </a:solidFill>
              </a:rPr>
              <a:t> сделано</a:t>
            </a:r>
          </a:p>
        </p:txBody>
      </p:sp>
      <p:sp>
        <p:nvSpPr>
          <p:cNvPr id="6" name="Текст 1">
            <a:extLst>
              <a:ext uri="{FF2B5EF4-FFF2-40B4-BE49-F238E27FC236}">
                <a16:creationId xmlns:a16="http://schemas.microsoft.com/office/drawing/2014/main" id="{965D5DA3-5C96-2E2F-0417-29AF92A4C21B}"/>
              </a:ext>
            </a:extLst>
          </p:cNvPr>
          <p:cNvSpPr txBox="1">
            <a:spLocks/>
          </p:cNvSpPr>
          <p:nvPr/>
        </p:nvSpPr>
        <p:spPr bwMode="auto">
          <a:xfrm>
            <a:off x="5579619" y="5368923"/>
            <a:ext cx="2586258" cy="281706"/>
          </a:xfrm>
          <a:prstGeom prst="rect">
            <a:avLst/>
          </a:prstGeom>
        </p:spPr>
        <p:txBody>
          <a:bodyPr/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dirty="0">
                <a:solidFill>
                  <a:srgbClr val="F92571"/>
                </a:solidFill>
              </a:rPr>
              <a:t> сделано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775559" name="Скругленный прямоугольник 1"/>
          <p:cNvSpPr/>
          <p:nvPr/>
        </p:nvSpPr>
        <p:spPr bwMode="auto">
          <a:xfrm>
            <a:off x="346074" y="235974"/>
            <a:ext cx="6430515" cy="876071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66160549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6"/>
                </a:solidFill>
              </a:rPr>
              <a:t>17</a:t>
            </a:fld>
            <a:endParaRPr lang="ru-RU">
              <a:solidFill>
                <a:schemeClr val="accent6"/>
              </a:solidFill>
            </a:endParaRPr>
          </a:p>
        </p:txBody>
      </p:sp>
      <p:sp>
        <p:nvSpPr>
          <p:cNvPr id="318130621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6"/>
                </a:solidFill>
              </a:rPr>
              <a:t>В 2.5 раза быстрее ввод в дежурство</a:t>
            </a:r>
          </a:p>
        </p:txBody>
      </p:sp>
      <p:sp>
        <p:nvSpPr>
          <p:cNvPr id="1878405022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76590" y="1739825"/>
            <a:ext cx="4790314" cy="72034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accent6"/>
                </a:solidFill>
              </a:rPr>
              <a:t>Срок адаптации сокращается с 2 месяцев до 3 недель благодаря погружению в реальный акустический стресс катастроф.</a:t>
            </a:r>
          </a:p>
        </p:txBody>
      </p:sp>
      <p:sp>
        <p:nvSpPr>
          <p:cNvPr id="449523253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-70% времени преподавателей на рутину</a:t>
            </a:r>
          </a:p>
        </p:txBody>
      </p:sp>
      <p:sp>
        <p:nvSpPr>
          <p:cNvPr id="1458881947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76590" y="3156154"/>
            <a:ext cx="4790314" cy="661698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accent5"/>
                </a:solidFill>
              </a:rPr>
              <a:t>Автоматическая генерация билетов и первичная доказательная оценка освобождают сотни часов для персонального наставничества.</a:t>
            </a:r>
          </a:p>
        </p:txBody>
      </p:sp>
      <p:sp>
        <p:nvSpPr>
          <p:cNvPr id="828887783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6"/>
                </a:solidFill>
              </a:rPr>
              <a:t>-15-20 секунд на подтверждение вызова ДДС</a:t>
            </a:r>
          </a:p>
        </p:txBody>
      </p:sp>
      <p:sp>
        <p:nvSpPr>
          <p:cNvPr id="1226906187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76590" y="4434347"/>
            <a:ext cx="4790314" cy="652066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accent6"/>
                </a:solidFill>
              </a:rPr>
              <a:t>Исключение задержек и ошибок маршрутизации спасает жизни при пожарах, ДТП и обрушениях.</a:t>
            </a:r>
          </a:p>
        </p:txBody>
      </p:sp>
      <p:sp>
        <p:nvSpPr>
          <p:cNvPr id="828808947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Тайминг обработки карточки: &lt;20 сек вместо 45–60 сек</a:t>
            </a:r>
          </a:p>
        </p:txBody>
      </p:sp>
      <p:sp>
        <p:nvSpPr>
          <p:cNvPr id="226994727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76590" y="5745955"/>
            <a:ext cx="4790314" cy="610402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accent5"/>
                </a:solidFill>
              </a:rPr>
              <a:t>Доведение навыка сбора данных до автоматизма исключает просрочки и штрафные санкции.</a:t>
            </a:r>
          </a:p>
        </p:txBody>
      </p:sp>
      <p:graphicFrame>
        <p:nvGraphicFramePr>
          <p:cNvPr id="2109608534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616026"/>
              </p:ext>
            </p:extLst>
          </p:nvPr>
        </p:nvGraphicFramePr>
        <p:xfrm>
          <a:off x="625096" y="1360288"/>
          <a:ext cx="5470904" cy="49960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270958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5"/>
            <a:ext cx="5933977" cy="542335"/>
          </a:xfrm>
        </p:spPr>
        <p:txBody>
          <a:bodyPr/>
          <a:lstStyle/>
          <a:p>
            <a:pPr>
              <a:defRPr/>
            </a:pPr>
            <a:r>
              <a:rPr lang="ru-RU" dirty="0"/>
              <a:t>Эффект для города Москвы: Спасённые секунды и экономия ресурсов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808184" name="Скругленный прямоугольник 9"/>
          <p:cNvSpPr/>
          <p:nvPr/>
        </p:nvSpPr>
        <p:spPr bwMode="auto">
          <a:xfrm>
            <a:off x="346074" y="226142"/>
            <a:ext cx="6526673" cy="71933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711260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215570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4311504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1444935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1328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2835697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368522" y="1732842"/>
            <a:ext cx="2586258" cy="609894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Этап 1 (Выполнен)</a:t>
            </a:r>
          </a:p>
        </p:txBody>
      </p:sp>
      <p:sp>
        <p:nvSpPr>
          <p:cNvPr id="10230332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368522" y="2342736"/>
            <a:ext cx="2458065" cy="299325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Работающий комплекс в </a:t>
            </a:r>
            <a:r>
              <a:rPr lang="en-US" dirty="0">
                <a:solidFill>
                  <a:schemeClr val="tx1"/>
                </a:solidFill>
              </a:rPr>
              <a:t>Docker Compose </a:t>
            </a:r>
            <a:r>
              <a:rPr lang="ru-RU" dirty="0">
                <a:solidFill>
                  <a:schemeClr val="tx1"/>
                </a:solidFill>
              </a:rPr>
              <a:t>на </a:t>
            </a:r>
            <a:r>
              <a:rPr lang="en-US" dirty="0">
                <a:solidFill>
                  <a:schemeClr val="tx1"/>
                </a:solidFill>
              </a:rPr>
              <a:t>GPU, 96 </a:t>
            </a:r>
            <a:r>
              <a:rPr lang="ru-RU" dirty="0">
                <a:solidFill>
                  <a:schemeClr val="tx1"/>
                </a:solidFill>
              </a:rPr>
              <a:t>сценариев, </a:t>
            </a:r>
            <a:r>
              <a:rPr lang="en-US" dirty="0">
                <a:solidFill>
                  <a:schemeClr val="tx1"/>
                </a:solidFill>
              </a:rPr>
              <a:t>F5-TTS </a:t>
            </a:r>
            <a:r>
              <a:rPr lang="ru-RU" dirty="0">
                <a:solidFill>
                  <a:schemeClr val="tx1"/>
                </a:solidFill>
              </a:rPr>
              <a:t>с 11 звуками ЧС, АРМ-112, АРМ-ДДС, </a:t>
            </a:r>
            <a:r>
              <a:rPr lang="ru-RU" dirty="0" err="1">
                <a:solidFill>
                  <a:schemeClr val="tx1"/>
                </a:solidFill>
              </a:rPr>
              <a:t>дашборды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V01–V10.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6486169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288425" y="1732842"/>
            <a:ext cx="2422854" cy="403756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Этап 2 (1–2 месяца)</a:t>
            </a:r>
          </a:p>
        </p:txBody>
      </p:sp>
      <p:sp>
        <p:nvSpPr>
          <p:cNvPr id="84068252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371212" y="2347434"/>
            <a:ext cx="2507225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Пилотное внедрение в Учебном центре ГБУ «Система 112» на существующих серверах, интеграция со штатным SIP-сервером.</a:t>
            </a:r>
          </a:p>
        </p:txBody>
      </p:sp>
      <p:sp>
        <p:nvSpPr>
          <p:cNvPr id="176902350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254230" y="1723436"/>
            <a:ext cx="2672801" cy="403913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Этап 3 (3–5 месяцев)</a:t>
            </a:r>
          </a:p>
        </p:txBody>
      </p:sp>
      <p:sp>
        <p:nvSpPr>
          <p:cNvPr id="19110492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230774" y="2347434"/>
            <a:ext cx="2649344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Подключение диспетчеров всех смежных служб Москвы (</a:t>
            </a:r>
            <a:r>
              <a:rPr lang="ru-RU" dirty="0" err="1">
                <a:solidFill>
                  <a:schemeClr val="tx1"/>
                </a:solidFill>
              </a:rPr>
              <a:t>Гормост</a:t>
            </a:r>
            <a:r>
              <a:rPr lang="ru-RU" dirty="0">
                <a:solidFill>
                  <a:schemeClr val="tx1"/>
                </a:solidFill>
              </a:rPr>
              <a:t>, Жилищник, Мосводоканал, Мосгаз); активация адаптивного модуля эмоций курсантов </a:t>
            </a:r>
            <a:r>
              <a:rPr lang="ru-RU" dirty="0" err="1">
                <a:solidFill>
                  <a:schemeClr val="tx1"/>
                </a:solidFill>
              </a:rPr>
              <a:t>GigaAM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Emo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2125539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196579" y="1825975"/>
            <a:ext cx="2626899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Этап 4 (6+ месяцев)</a:t>
            </a:r>
          </a:p>
        </p:txBody>
      </p:sp>
      <p:sp>
        <p:nvSpPr>
          <p:cNvPr id="92557127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196580" y="2342736"/>
            <a:ext cx="2649344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Тиражирование решения в субъекты РФ в рамках развития Системы-112.</a:t>
            </a: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В правую свободную часть: вставить скриншот архитектуры / сервера </a:t>
            </a:r>
          </a:p>
          <a:p>
            <a:pPr marL="0" indent="0">
              <a:buNone/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614650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42452"/>
            <a:ext cx="6228944" cy="324464"/>
          </a:xfrm>
        </p:spPr>
        <p:txBody>
          <a:bodyPr/>
          <a:lstStyle/>
          <a:p>
            <a:pPr>
              <a:defRPr/>
            </a:pPr>
            <a:r>
              <a:rPr lang="ru-RU" dirty="0"/>
              <a:t>От готового MVP к отраслевому стандарту</a:t>
            </a:r>
          </a:p>
        </p:txBody>
      </p:sp>
    </p:spTree>
    <p:extLst>
      <p:ext uri="{BB962C8B-B14F-4D97-AF65-F5344CB8AC3E}">
        <p14:creationId xmlns:p14="http://schemas.microsoft.com/office/powerpoint/2010/main" val="1241528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0" y="1397120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 dirty="0"/>
              <a:t>Спасибо за внимание!</a:t>
            </a:r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3140277"/>
            <a:ext cx="5380705" cy="444873"/>
          </a:xfrm>
        </p:spPr>
        <p:txBody>
          <a:bodyPr anchor="ctr"/>
          <a:lstStyle/>
          <a:p>
            <a:pPr indent="268288">
              <a:defRPr/>
            </a:pPr>
            <a:r>
              <a:rPr lang="ru-RU" dirty="0"/>
              <a:t>Рабочий стенд: </a:t>
            </a:r>
            <a:r>
              <a:rPr lang="ru-RU" dirty="0">
                <a:hlinkClick r:id="rId3"/>
              </a:rPr>
              <a:t>https://hack-112.nir.center/</a:t>
            </a:r>
            <a:endParaRPr lang="ru-RU" dirty="0"/>
          </a:p>
        </p:txBody>
      </p:sp>
      <p:pic>
        <p:nvPicPr>
          <p:cNvPr id="2" name="Image 7" descr=" ">
            <a:extLst>
              <a:ext uri="{FF2B5EF4-FFF2-40B4-BE49-F238E27FC236}">
                <a16:creationId xmlns:a16="http://schemas.microsoft.com/office/drawing/2014/main" id="{53A6847C-270D-2926-24DB-AE514B96ED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12541" y="441325"/>
            <a:ext cx="2876535" cy="4380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823CD8-399C-A9D8-0E40-142EDDEF179C}"/>
              </a:ext>
            </a:extLst>
          </p:cNvPr>
          <p:cNvSpPr txBox="1"/>
          <p:nvPr/>
        </p:nvSpPr>
        <p:spPr>
          <a:xfrm>
            <a:off x="5380704" y="3178047"/>
            <a:ext cx="6811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Репозиторий: </a:t>
            </a:r>
            <a:r>
              <a:rPr lang="ru-RU" dirty="0">
                <a:hlinkClick r:id="rId5"/>
              </a:rPr>
              <a:t>https://github.com/aleksandrukbogdan/112</a:t>
            </a:r>
            <a:endParaRPr lang="ru-RU" dirty="0"/>
          </a:p>
        </p:txBody>
      </p:sp>
      <p:pic>
        <p:nvPicPr>
          <p:cNvPr id="6" name="Рисунок 5" descr="Изображение выглядит как шаблон, прямоугольный, Симметрия, пиксел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B79804F-1555-CFC3-8CC7-5429DA926B8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222" y="3754138"/>
            <a:ext cx="2819400" cy="2819400"/>
          </a:xfrm>
          <a:prstGeom prst="rect">
            <a:avLst/>
          </a:prstGeom>
        </p:spPr>
      </p:pic>
      <p:pic>
        <p:nvPicPr>
          <p:cNvPr id="8" name="Рисунок 7" descr="Изображение выглядит как шаблон, прямоугольный, пиксел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1CFFB27-B595-E91E-D908-A97B05F2C4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52" y="3754138"/>
            <a:ext cx="28194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76307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</TotalTime>
  <Words>2057</Words>
  <Application>Microsoft Office PowerPoint</Application>
  <PresentationFormat>Широкоэкранный</PresentationFormat>
  <Paragraphs>216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Lato Light</vt:lpstr>
      <vt:lpstr>Montserrat</vt:lpstr>
      <vt:lpstr>Wingdings</vt:lpstr>
      <vt:lpstr>Для Академия инноваторов 16_9</vt:lpstr>
      <vt:lpstr>НИР-ЦЕНТР</vt:lpstr>
      <vt:lpstr>Команда «НИР-ЦЕНТР»</vt:lpstr>
      <vt:lpstr>Команда «Нир-Центр»</vt:lpstr>
      <vt:lpstr>Команда «Нир-Центр»</vt:lpstr>
      <vt:lpstr>КОРОТКО О РЕШЕНИИ</vt:lpstr>
      <vt:lpstr>Сквозной процесс</vt:lpstr>
      <vt:lpstr>АРМ Оператора 112: Максимальный реализм и классификатор Москвы</vt:lpstr>
      <vt:lpstr>Речевая лаборатория F5-TTS и 11 звуков катастроф</vt:lpstr>
      <vt:lpstr>АРМ Диспетчера ДДС: Оперативное управление силами и связь с бригадой</vt:lpstr>
      <vt:lpstr>Мониторинг группы: контроль нагрузки занятия и оперативные вводные</vt:lpstr>
      <vt:lpstr>Аналитический комплекс: 10 дашбордов и математический Brier score</vt:lpstr>
      <vt:lpstr>Персонализация обучения: Устранение дефицитов компетенций</vt:lpstr>
      <vt:lpstr>Конструктор сценариев: Генерация по цели с контролем наставника</vt:lpstr>
      <vt:lpstr>Оценивание и отчётность: Полное соответствие бланкам Москвы</vt:lpstr>
      <vt:lpstr>Архитектура и безопасность: Изолированный контур и мониторинг узлов</vt:lpstr>
      <vt:lpstr>Соответствие ТЗ: 100% покрытие обязательных и опциональных требований </vt:lpstr>
      <vt:lpstr>Эффект для города Москвы: Спасённые секунды и экономия ресурсов</vt:lpstr>
      <vt:lpstr>От готового MVP к отраслевому стандарту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Богдан Александрук</cp:lastModifiedBy>
  <cp:revision>124</cp:revision>
  <dcterms:created xsi:type="dcterms:W3CDTF">2023-05-15T07:36:23Z</dcterms:created>
  <dcterms:modified xsi:type="dcterms:W3CDTF">2026-09-29T15:59:10Z</dcterms:modified>
</cp:coreProperties>
</file>